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al" charset="1" panose="020B0604020202020204"/>
      <p:regular r:id="rId25"/>
    </p:embeddedFont>
    <p:embeddedFont>
      <p:font typeface="Arial Bold" charset="1" panose="020B0704020202020204"/>
      <p:regular r:id="rId26"/>
    </p:embeddedFont>
    <p:embeddedFont>
      <p:font typeface="Open Sans" charset="1" panose="020B06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12" Target="../media/image68.png" Type="http://schemas.openxmlformats.org/officeDocument/2006/relationships/image"/><Relationship Id="rId13" Target="../media/image69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4526280" cy="1117854"/>
            <a:chOff x="0" y="0"/>
            <a:chExt cx="6035040" cy="1490472"/>
          </a:xfrm>
        </p:grpSpPr>
        <p:sp>
          <p:nvSpPr>
            <p:cNvPr name="Freeform 3" id="3" descr="/home/claude/duocuc_logo.png"/>
            <p:cNvSpPr/>
            <p:nvPr/>
          </p:nvSpPr>
          <p:spPr>
            <a:xfrm flipH="false" flipV="false" rot="0">
              <a:off x="0" y="0"/>
              <a:ext cx="6035040" cy="1490472"/>
            </a:xfrm>
            <a:custGeom>
              <a:avLst/>
              <a:gdLst/>
              <a:ahLst/>
              <a:cxnLst/>
              <a:rect r="r" b="b" t="t" l="l"/>
              <a:pathLst>
                <a:path h="14904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490472"/>
                  </a:lnTo>
                  <a:lnTo>
                    <a:pt x="0" y="1490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5" r="0" b="-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7338060"/>
            <a:ext cx="5486400" cy="480060"/>
            <a:chOff x="0" y="0"/>
            <a:chExt cx="73152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31" r="0" b="-1725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7323772"/>
            <a:ext cx="5486400" cy="494347"/>
            <a:chOff x="0" y="0"/>
            <a:chExt cx="7315200" cy="659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659130"/>
            </a:xfrm>
            <a:custGeom>
              <a:avLst/>
              <a:gdLst/>
              <a:ahLst/>
              <a:cxnLst/>
              <a:rect r="r" b="b" t="t" l="l"/>
              <a:pathLst>
                <a:path h="65913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59130"/>
                  </a:lnTo>
                  <a:lnTo>
                    <a:pt x="0" y="6591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6250" r="0" b="-1662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Integrantes: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8760" y="7818120"/>
            <a:ext cx="5486400" cy="1508760"/>
            <a:chOff x="0" y="0"/>
            <a:chExt cx="7315200" cy="2011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05" r="0" b="-2080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08760" y="7810976"/>
            <a:ext cx="5486400" cy="1515904"/>
            <a:chOff x="0" y="0"/>
            <a:chExt cx="7315200" cy="20212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2021205"/>
            </a:xfrm>
            <a:custGeom>
              <a:avLst/>
              <a:gdLst/>
              <a:ahLst/>
              <a:cxnLst/>
              <a:rect r="r" b="b" t="t" l="l"/>
              <a:pathLst>
                <a:path h="2021205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21205"/>
                  </a:lnTo>
                  <a:lnTo>
                    <a:pt x="0" y="20212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520" r="0" b="-205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315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3255" indent="-147752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Bastián Rojas</a:t>
              </a:r>
            </a:p>
            <a:p>
              <a:pPr algn="l" marL="443255" indent="-147752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Christopher Sepúlveda</a:t>
              </a:r>
            </a:p>
            <a:p>
              <a:pPr algn="l" marL="443389" indent="-147796" lvl="2">
                <a:lnSpc>
                  <a:spcPts val="2520"/>
                </a:lnSpc>
                <a:buFont typeface="Arial"/>
                <a:buChar char="⚬"/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Sebastián Lobos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0" y="7338060"/>
            <a:ext cx="6172200" cy="1920240"/>
            <a:chOff x="0" y="0"/>
            <a:chExt cx="8229600" cy="2560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86" r="0" b="-1258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3634" y="7608808"/>
            <a:ext cx="6172200" cy="1927384"/>
            <a:chOff x="0" y="0"/>
            <a:chExt cx="8229600" cy="25698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9600" cy="2569845"/>
            </a:xfrm>
            <a:custGeom>
              <a:avLst/>
              <a:gdLst/>
              <a:ahLst/>
              <a:cxnLst/>
              <a:rect r="r" b="b" t="t" l="l"/>
              <a:pathLst>
                <a:path h="2569845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569845"/>
                  </a:lnTo>
                  <a:lnTo>
                    <a:pt x="0" y="25698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98" r="0" b="-123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22960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Docente: Aldo Alberto Martínez Ordenes</a:t>
              </a:r>
            </a:p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Sección: 801V</a:t>
              </a:r>
            </a:p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Grupo:    9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313432" y="3867335"/>
            <a:ext cx="1795880" cy="2034535"/>
          </a:xfrm>
          <a:custGeom>
            <a:avLst/>
            <a:gdLst/>
            <a:ahLst/>
            <a:cxnLst/>
            <a:rect r="r" b="b" t="t" l="l"/>
            <a:pathLst>
              <a:path h="2034535" w="1795880">
                <a:moveTo>
                  <a:pt x="0" y="0"/>
                </a:moveTo>
                <a:lnTo>
                  <a:pt x="1795880" y="0"/>
                </a:lnTo>
                <a:lnTo>
                  <a:pt x="1795880" y="2034535"/>
                </a:lnTo>
                <a:lnTo>
                  <a:pt x="0" y="2034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31810" y="4003472"/>
            <a:ext cx="4256931" cy="123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MiRutApp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626728"/>
            <a:ext cx="9939989" cy="5218869"/>
            <a:chOff x="0" y="0"/>
            <a:chExt cx="13253319" cy="6958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8338" y="46658"/>
              <a:ext cx="3752112" cy="3358140"/>
            </a:xfrm>
            <a:custGeom>
              <a:avLst/>
              <a:gdLst/>
              <a:ahLst/>
              <a:cxnLst/>
              <a:rect r="r" b="b" t="t" l="l"/>
              <a:pathLst>
                <a:path h="3358140" w="3752112">
                  <a:moveTo>
                    <a:pt x="0" y="0"/>
                  </a:moveTo>
                  <a:lnTo>
                    <a:pt x="3752112" y="0"/>
                  </a:lnTo>
                  <a:lnTo>
                    <a:pt x="3752112" y="3358140"/>
                  </a:lnTo>
                  <a:lnTo>
                    <a:pt x="0" y="3358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8338" y="3600352"/>
              <a:ext cx="3752112" cy="3358140"/>
            </a:xfrm>
            <a:custGeom>
              <a:avLst/>
              <a:gdLst/>
              <a:ahLst/>
              <a:cxnLst/>
              <a:rect r="r" b="b" t="t" l="l"/>
              <a:pathLst>
                <a:path h="3358140" w="3752112">
                  <a:moveTo>
                    <a:pt x="0" y="0"/>
                  </a:moveTo>
                  <a:lnTo>
                    <a:pt x="3752112" y="0"/>
                  </a:lnTo>
                  <a:lnTo>
                    <a:pt x="3752112" y="3358140"/>
                  </a:lnTo>
                  <a:lnTo>
                    <a:pt x="0" y="3358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14042" y="46658"/>
              <a:ext cx="3752112" cy="3358140"/>
            </a:xfrm>
            <a:custGeom>
              <a:avLst/>
              <a:gdLst/>
              <a:ahLst/>
              <a:cxnLst/>
              <a:rect r="r" b="b" t="t" l="l"/>
              <a:pathLst>
                <a:path h="3358140" w="3752112">
                  <a:moveTo>
                    <a:pt x="0" y="0"/>
                  </a:moveTo>
                  <a:lnTo>
                    <a:pt x="3752112" y="0"/>
                  </a:lnTo>
                  <a:lnTo>
                    <a:pt x="3752112" y="3358140"/>
                  </a:lnTo>
                  <a:lnTo>
                    <a:pt x="0" y="3358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235704" y="3600352"/>
              <a:ext cx="3752112" cy="3358140"/>
            </a:xfrm>
            <a:custGeom>
              <a:avLst/>
              <a:gdLst/>
              <a:ahLst/>
              <a:cxnLst/>
              <a:rect r="r" b="b" t="t" l="l"/>
              <a:pathLst>
                <a:path h="3358140" w="3752112">
                  <a:moveTo>
                    <a:pt x="0" y="0"/>
                  </a:moveTo>
                  <a:lnTo>
                    <a:pt x="3752112" y="0"/>
                  </a:lnTo>
                  <a:lnTo>
                    <a:pt x="3752112" y="3358140"/>
                  </a:lnTo>
                  <a:lnTo>
                    <a:pt x="0" y="3358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381916" y="1219007"/>
              <a:ext cx="3871403" cy="1013442"/>
            </a:xfrm>
            <a:custGeom>
              <a:avLst/>
              <a:gdLst/>
              <a:ahLst/>
              <a:cxnLst/>
              <a:rect r="r" b="b" t="t" l="l"/>
              <a:pathLst>
                <a:path h="1013442" w="3871403">
                  <a:moveTo>
                    <a:pt x="0" y="0"/>
                  </a:moveTo>
                  <a:lnTo>
                    <a:pt x="3871403" y="0"/>
                  </a:lnTo>
                  <a:lnTo>
                    <a:pt x="3871403" y="1013442"/>
                  </a:lnTo>
                  <a:lnTo>
                    <a:pt x="0" y="1013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86" r="0" b="-15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269019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8338" y="1488026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Problematica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54509" y="2716081"/>
              <a:ext cx="1234083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Solución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822944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96185" y="5079397"/>
              <a:ext cx="64393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78367" y="6260497"/>
              <a:ext cx="2208567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850966" y="1460475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Riesgos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983518" y="5042145"/>
              <a:ext cx="2982636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Mapa Tecnologico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497902" y="2678828"/>
              <a:ext cx="2982636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113164" y="6286415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Arquitectura</a:t>
              </a:r>
            </a:p>
          </p:txBody>
        </p:sp>
        <p:sp>
          <p:nvSpPr>
            <p:cNvPr name="Freeform 29" id="29"/>
            <p:cNvSpPr/>
            <p:nvPr/>
          </p:nvSpPr>
          <p:spPr>
            <a:xfrm flipH="false" flipV="false" rot="0">
              <a:off x="9381916" y="0"/>
              <a:ext cx="3871403" cy="1013442"/>
            </a:xfrm>
            <a:custGeom>
              <a:avLst/>
              <a:gdLst/>
              <a:ahLst/>
              <a:cxnLst/>
              <a:rect r="r" b="b" t="t" l="l"/>
              <a:pathLst>
                <a:path h="1013442" w="3871403">
                  <a:moveTo>
                    <a:pt x="0" y="0"/>
                  </a:moveTo>
                  <a:lnTo>
                    <a:pt x="3871403" y="0"/>
                  </a:lnTo>
                  <a:lnTo>
                    <a:pt x="3871403" y="1013442"/>
                  </a:lnTo>
                  <a:lnTo>
                    <a:pt x="0" y="1013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86" r="0" b="-15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9826299" y="1488026"/>
              <a:ext cx="2982636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735874" y="269019"/>
              <a:ext cx="2982636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Mockup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757948" y="3822945"/>
              <a:ext cx="2982636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Modelo canva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214042" y="318323"/>
              <a:ext cx="3752112" cy="427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Competencias 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2206322" y="2801571"/>
            <a:ext cx="4260535" cy="4869183"/>
          </a:xfrm>
          <a:custGeom>
            <a:avLst/>
            <a:gdLst/>
            <a:ahLst/>
            <a:cxnLst/>
            <a:rect r="r" b="b" t="t" l="l"/>
            <a:pathLst>
              <a:path h="4869183" w="4260535">
                <a:moveTo>
                  <a:pt x="0" y="0"/>
                </a:moveTo>
                <a:lnTo>
                  <a:pt x="4260535" y="0"/>
                </a:lnTo>
                <a:lnTo>
                  <a:pt x="4260535" y="4869184"/>
                </a:lnTo>
                <a:lnTo>
                  <a:pt x="0" y="48691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51239" y="28241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239" y="37370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1239" y="4650816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1239" y="5490978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1239" y="6404743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1239" y="7318508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42951" y="28241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42951" y="37370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42951" y="4650816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052476" y="5490978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074920" y="6404743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65395" y="7318508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13058" y="28241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13058" y="3737051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603102" y="3144102"/>
            <a:ext cx="1645278" cy="1848627"/>
          </a:xfrm>
          <a:custGeom>
            <a:avLst/>
            <a:gdLst/>
            <a:ahLst/>
            <a:cxnLst/>
            <a:rect r="r" b="b" t="t" l="l"/>
            <a:pathLst>
              <a:path h="1848627" w="1645278">
                <a:moveTo>
                  <a:pt x="0" y="0"/>
                </a:moveTo>
                <a:lnTo>
                  <a:pt x="1645277" y="0"/>
                </a:lnTo>
                <a:lnTo>
                  <a:pt x="1645277" y="1848627"/>
                </a:lnTo>
                <a:lnTo>
                  <a:pt x="0" y="1848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43649" y="3261059"/>
            <a:ext cx="1673278" cy="1614713"/>
          </a:xfrm>
          <a:custGeom>
            <a:avLst/>
            <a:gdLst/>
            <a:ahLst/>
            <a:cxnLst/>
            <a:rect r="r" b="b" t="t" l="l"/>
            <a:pathLst>
              <a:path h="1614713" w="1673278">
                <a:moveTo>
                  <a:pt x="0" y="0"/>
                </a:moveTo>
                <a:lnTo>
                  <a:pt x="1673278" y="0"/>
                </a:lnTo>
                <a:lnTo>
                  <a:pt x="1673278" y="1614713"/>
                </a:lnTo>
                <a:lnTo>
                  <a:pt x="0" y="161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94310" y="3134906"/>
            <a:ext cx="1867019" cy="1867019"/>
          </a:xfrm>
          <a:custGeom>
            <a:avLst/>
            <a:gdLst/>
            <a:ahLst/>
            <a:cxnLst/>
            <a:rect r="r" b="b" t="t" l="l"/>
            <a:pathLst>
              <a:path h="1867019" w="1867019">
                <a:moveTo>
                  <a:pt x="0" y="0"/>
                </a:moveTo>
                <a:lnTo>
                  <a:pt x="1867019" y="0"/>
                </a:lnTo>
                <a:lnTo>
                  <a:pt x="1867019" y="1867019"/>
                </a:lnTo>
                <a:lnTo>
                  <a:pt x="0" y="1867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78947" y="5137274"/>
            <a:ext cx="4983752" cy="2797755"/>
            <a:chOff x="0" y="0"/>
            <a:chExt cx="1312593" cy="7368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2593" cy="736857"/>
            </a:xfrm>
            <a:custGeom>
              <a:avLst/>
              <a:gdLst/>
              <a:ahLst/>
              <a:cxnLst/>
              <a:rect r="r" b="b" t="t" l="l"/>
              <a:pathLst>
                <a:path h="736857" w="1312593">
                  <a:moveTo>
                    <a:pt x="43496" y="0"/>
                  </a:moveTo>
                  <a:lnTo>
                    <a:pt x="1269097" y="0"/>
                  </a:lnTo>
                  <a:cubicBezTo>
                    <a:pt x="1293119" y="0"/>
                    <a:pt x="1312593" y="19474"/>
                    <a:pt x="1312593" y="43496"/>
                  </a:cubicBezTo>
                  <a:lnTo>
                    <a:pt x="1312593" y="693361"/>
                  </a:lnTo>
                  <a:cubicBezTo>
                    <a:pt x="1312593" y="717383"/>
                    <a:pt x="1293119" y="736857"/>
                    <a:pt x="1269097" y="736857"/>
                  </a:cubicBezTo>
                  <a:lnTo>
                    <a:pt x="43496" y="736857"/>
                  </a:lnTo>
                  <a:cubicBezTo>
                    <a:pt x="31960" y="736857"/>
                    <a:pt x="20897" y="732275"/>
                    <a:pt x="12740" y="724118"/>
                  </a:cubicBezTo>
                  <a:cubicBezTo>
                    <a:pt x="4583" y="715960"/>
                    <a:pt x="0" y="704897"/>
                    <a:pt x="0" y="693361"/>
                  </a:cubicBezTo>
                  <a:lnTo>
                    <a:pt x="0" y="43496"/>
                  </a:lnTo>
                  <a:cubicBezTo>
                    <a:pt x="0" y="19474"/>
                    <a:pt x="19474" y="0"/>
                    <a:pt x="4349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1259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94965" y="5137274"/>
            <a:ext cx="4970645" cy="2797755"/>
            <a:chOff x="0" y="0"/>
            <a:chExt cx="1309141" cy="7368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9141" cy="736857"/>
            </a:xfrm>
            <a:custGeom>
              <a:avLst/>
              <a:gdLst/>
              <a:ahLst/>
              <a:cxnLst/>
              <a:rect r="r" b="b" t="t" l="l"/>
              <a:pathLst>
                <a:path h="736857" w="1309141">
                  <a:moveTo>
                    <a:pt x="43611" y="0"/>
                  </a:moveTo>
                  <a:lnTo>
                    <a:pt x="1265530" y="0"/>
                  </a:lnTo>
                  <a:cubicBezTo>
                    <a:pt x="1277097" y="0"/>
                    <a:pt x="1288189" y="4595"/>
                    <a:pt x="1296368" y="12773"/>
                  </a:cubicBezTo>
                  <a:cubicBezTo>
                    <a:pt x="1304547" y="20952"/>
                    <a:pt x="1309141" y="32044"/>
                    <a:pt x="1309141" y="43611"/>
                  </a:cubicBezTo>
                  <a:lnTo>
                    <a:pt x="1309141" y="693246"/>
                  </a:lnTo>
                  <a:cubicBezTo>
                    <a:pt x="1309141" y="704813"/>
                    <a:pt x="1304547" y="715905"/>
                    <a:pt x="1296368" y="724084"/>
                  </a:cubicBezTo>
                  <a:cubicBezTo>
                    <a:pt x="1288189" y="732263"/>
                    <a:pt x="1277097" y="736857"/>
                    <a:pt x="1265530" y="736857"/>
                  </a:cubicBezTo>
                  <a:lnTo>
                    <a:pt x="43611" y="736857"/>
                  </a:lnTo>
                  <a:cubicBezTo>
                    <a:pt x="32044" y="736857"/>
                    <a:pt x="20952" y="732263"/>
                    <a:pt x="12773" y="724084"/>
                  </a:cubicBezTo>
                  <a:cubicBezTo>
                    <a:pt x="4595" y="715905"/>
                    <a:pt x="0" y="704813"/>
                    <a:pt x="0" y="693246"/>
                  </a:cubicBezTo>
                  <a:lnTo>
                    <a:pt x="0" y="43611"/>
                  </a:lnTo>
                  <a:cubicBezTo>
                    <a:pt x="0" y="32044"/>
                    <a:pt x="4595" y="20952"/>
                    <a:pt x="12773" y="12773"/>
                  </a:cubicBezTo>
                  <a:cubicBezTo>
                    <a:pt x="20952" y="4595"/>
                    <a:pt x="32044" y="0"/>
                    <a:pt x="4361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0914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94235" y="5137274"/>
            <a:ext cx="5114818" cy="2797755"/>
            <a:chOff x="0" y="0"/>
            <a:chExt cx="1347113" cy="7368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7113" cy="736857"/>
            </a:xfrm>
            <a:custGeom>
              <a:avLst/>
              <a:gdLst/>
              <a:ahLst/>
              <a:cxnLst/>
              <a:rect r="r" b="b" t="t" l="l"/>
              <a:pathLst>
                <a:path h="736857" w="1347113">
                  <a:moveTo>
                    <a:pt x="42382" y="0"/>
                  </a:moveTo>
                  <a:lnTo>
                    <a:pt x="1304731" y="0"/>
                  </a:lnTo>
                  <a:cubicBezTo>
                    <a:pt x="1315971" y="0"/>
                    <a:pt x="1326751" y="4465"/>
                    <a:pt x="1334699" y="12413"/>
                  </a:cubicBezTo>
                  <a:cubicBezTo>
                    <a:pt x="1342647" y="20361"/>
                    <a:pt x="1347113" y="31141"/>
                    <a:pt x="1347113" y="42382"/>
                  </a:cubicBezTo>
                  <a:lnTo>
                    <a:pt x="1347113" y="694476"/>
                  </a:lnTo>
                  <a:cubicBezTo>
                    <a:pt x="1347113" y="717882"/>
                    <a:pt x="1328138" y="736857"/>
                    <a:pt x="1304731" y="736857"/>
                  </a:cubicBezTo>
                  <a:lnTo>
                    <a:pt x="42382" y="736857"/>
                  </a:lnTo>
                  <a:cubicBezTo>
                    <a:pt x="31141" y="736857"/>
                    <a:pt x="20361" y="732392"/>
                    <a:pt x="12413" y="724444"/>
                  </a:cubicBezTo>
                  <a:cubicBezTo>
                    <a:pt x="4465" y="716496"/>
                    <a:pt x="0" y="705716"/>
                    <a:pt x="0" y="694476"/>
                  </a:cubicBezTo>
                  <a:lnTo>
                    <a:pt x="0" y="42382"/>
                  </a:lnTo>
                  <a:cubicBezTo>
                    <a:pt x="0" y="31141"/>
                    <a:pt x="4465" y="20361"/>
                    <a:pt x="12413" y="12413"/>
                  </a:cubicBezTo>
                  <a:cubicBezTo>
                    <a:pt x="20361" y="4465"/>
                    <a:pt x="31141" y="0"/>
                    <a:pt x="4238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4711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65523" y="5244474"/>
            <a:ext cx="452459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Brecha en el Estándar de Transporte:</a:t>
            </a:r>
          </a:p>
          <a:p>
            <a:pPr algn="ctr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Red: Núcleo urbano de Santiago.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Comunas como Peñaflor dependen de microbuses rurales e interurbanos.</a:t>
            </a: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788860" y="5297814"/>
            <a:ext cx="459596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Insuficiencia de Aplicaciones Globales: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788860" y="5913668"/>
            <a:ext cx="452754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Maps: Omite tranporte rural, sugiere transporte Didi.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Moovit: Nula informacion.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086941" y="5324484"/>
            <a:ext cx="484722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Rigidez de las Soluciones Colaborativas: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194260" y="6014094"/>
            <a:ext cx="452754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TranSapp: Nucleo urbano.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Alertas rigidas.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898208"/>
            <a:ext cx="12462359" cy="1395133"/>
            <a:chOff x="0" y="0"/>
            <a:chExt cx="16616479" cy="1860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16479" cy="1860178"/>
            </a:xfrm>
            <a:custGeom>
              <a:avLst/>
              <a:gdLst/>
              <a:ahLst/>
              <a:cxnLst/>
              <a:rect r="r" b="b" t="t" l="l"/>
              <a:pathLst>
                <a:path h="1860178" w="16616479">
                  <a:moveTo>
                    <a:pt x="0" y="0"/>
                  </a:moveTo>
                  <a:lnTo>
                    <a:pt x="16616479" y="0"/>
                  </a:lnTo>
                  <a:lnTo>
                    <a:pt x="16616479" y="1860178"/>
                  </a:lnTo>
                  <a:lnTo>
                    <a:pt x="0" y="18601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38" r="946" b="-1220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616479" cy="1879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Problematica: Incertidumbre y Vacío de Información</a:t>
              </a:r>
            </a:p>
            <a:p>
              <a:pPr algn="l">
                <a:lnSpc>
                  <a:spcPts val="46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914757" y="2964428"/>
            <a:ext cx="1817543" cy="2189811"/>
          </a:xfrm>
          <a:custGeom>
            <a:avLst/>
            <a:gdLst/>
            <a:ahLst/>
            <a:cxnLst/>
            <a:rect r="r" b="b" t="t" l="l"/>
            <a:pathLst>
              <a:path h="2189811" w="1817543">
                <a:moveTo>
                  <a:pt x="0" y="0"/>
                </a:moveTo>
                <a:lnTo>
                  <a:pt x="1817542" y="0"/>
                </a:lnTo>
                <a:lnTo>
                  <a:pt x="1817542" y="2189810"/>
                </a:lnTo>
                <a:lnTo>
                  <a:pt x="0" y="2189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32742" y="3282415"/>
            <a:ext cx="2369397" cy="1871824"/>
          </a:xfrm>
          <a:custGeom>
            <a:avLst/>
            <a:gdLst/>
            <a:ahLst/>
            <a:cxnLst/>
            <a:rect r="r" b="b" t="t" l="l"/>
            <a:pathLst>
              <a:path h="1871824" w="2369397">
                <a:moveTo>
                  <a:pt x="0" y="0"/>
                </a:moveTo>
                <a:lnTo>
                  <a:pt x="2369396" y="0"/>
                </a:lnTo>
                <a:lnTo>
                  <a:pt x="2369396" y="1871823"/>
                </a:lnTo>
                <a:lnTo>
                  <a:pt x="0" y="18718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90531" y="2964428"/>
            <a:ext cx="2284710" cy="2159051"/>
          </a:xfrm>
          <a:custGeom>
            <a:avLst/>
            <a:gdLst/>
            <a:ahLst/>
            <a:cxnLst/>
            <a:rect r="r" b="b" t="t" l="l"/>
            <a:pathLst>
              <a:path h="2159051" w="2284710">
                <a:moveTo>
                  <a:pt x="0" y="0"/>
                </a:moveTo>
                <a:lnTo>
                  <a:pt x="2284711" y="0"/>
                </a:lnTo>
                <a:lnTo>
                  <a:pt x="2284711" y="2159051"/>
                </a:lnTo>
                <a:lnTo>
                  <a:pt x="0" y="21590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75505" y="5272573"/>
            <a:ext cx="4618107" cy="2797755"/>
            <a:chOff x="0" y="0"/>
            <a:chExt cx="1216291" cy="7368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6291" cy="736857"/>
            </a:xfrm>
            <a:custGeom>
              <a:avLst/>
              <a:gdLst/>
              <a:ahLst/>
              <a:cxnLst/>
              <a:rect r="r" b="b" t="t" l="l"/>
              <a:pathLst>
                <a:path h="736857" w="1216291">
                  <a:moveTo>
                    <a:pt x="46940" y="0"/>
                  </a:moveTo>
                  <a:lnTo>
                    <a:pt x="1169351" y="0"/>
                  </a:lnTo>
                  <a:cubicBezTo>
                    <a:pt x="1195276" y="0"/>
                    <a:pt x="1216291" y="21016"/>
                    <a:pt x="1216291" y="46940"/>
                  </a:cubicBezTo>
                  <a:lnTo>
                    <a:pt x="1216291" y="689917"/>
                  </a:lnTo>
                  <a:cubicBezTo>
                    <a:pt x="1216291" y="702367"/>
                    <a:pt x="1211346" y="714306"/>
                    <a:pt x="1202543" y="723109"/>
                  </a:cubicBezTo>
                  <a:cubicBezTo>
                    <a:pt x="1193740" y="731912"/>
                    <a:pt x="1181801" y="736857"/>
                    <a:pt x="1169351" y="736857"/>
                  </a:cubicBezTo>
                  <a:lnTo>
                    <a:pt x="46940" y="736857"/>
                  </a:lnTo>
                  <a:cubicBezTo>
                    <a:pt x="34491" y="736857"/>
                    <a:pt x="22551" y="731912"/>
                    <a:pt x="13748" y="723109"/>
                  </a:cubicBezTo>
                  <a:cubicBezTo>
                    <a:pt x="4945" y="714306"/>
                    <a:pt x="0" y="702367"/>
                    <a:pt x="0" y="689917"/>
                  </a:cubicBezTo>
                  <a:lnTo>
                    <a:pt x="0" y="46940"/>
                  </a:lnTo>
                  <a:cubicBezTo>
                    <a:pt x="0" y="34491"/>
                    <a:pt x="4945" y="22551"/>
                    <a:pt x="13748" y="13748"/>
                  </a:cubicBezTo>
                  <a:cubicBezTo>
                    <a:pt x="22551" y="4945"/>
                    <a:pt x="34491" y="0"/>
                    <a:pt x="4694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1629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7104" y="5272573"/>
            <a:ext cx="4762279" cy="2797755"/>
            <a:chOff x="0" y="0"/>
            <a:chExt cx="1254263" cy="7368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4263" cy="736857"/>
            </a:xfrm>
            <a:custGeom>
              <a:avLst/>
              <a:gdLst/>
              <a:ahLst/>
              <a:cxnLst/>
              <a:rect r="r" b="b" t="t" l="l"/>
              <a:pathLst>
                <a:path h="736857" w="1254263">
                  <a:moveTo>
                    <a:pt x="45519" y="0"/>
                  </a:moveTo>
                  <a:lnTo>
                    <a:pt x="1208744" y="0"/>
                  </a:lnTo>
                  <a:cubicBezTo>
                    <a:pt x="1220816" y="0"/>
                    <a:pt x="1232394" y="4796"/>
                    <a:pt x="1240931" y="13332"/>
                  </a:cubicBezTo>
                  <a:cubicBezTo>
                    <a:pt x="1249467" y="21869"/>
                    <a:pt x="1254263" y="33447"/>
                    <a:pt x="1254263" y="45519"/>
                  </a:cubicBezTo>
                  <a:lnTo>
                    <a:pt x="1254263" y="691338"/>
                  </a:lnTo>
                  <a:cubicBezTo>
                    <a:pt x="1254263" y="716478"/>
                    <a:pt x="1233883" y="736857"/>
                    <a:pt x="1208744" y="736857"/>
                  </a:cubicBezTo>
                  <a:lnTo>
                    <a:pt x="45519" y="736857"/>
                  </a:lnTo>
                  <a:cubicBezTo>
                    <a:pt x="33447" y="736857"/>
                    <a:pt x="21869" y="732062"/>
                    <a:pt x="13332" y="723525"/>
                  </a:cubicBezTo>
                  <a:cubicBezTo>
                    <a:pt x="4796" y="714989"/>
                    <a:pt x="0" y="703411"/>
                    <a:pt x="0" y="691338"/>
                  </a:cubicBezTo>
                  <a:lnTo>
                    <a:pt x="0" y="45519"/>
                  </a:lnTo>
                  <a:cubicBezTo>
                    <a:pt x="0" y="33447"/>
                    <a:pt x="4796" y="21869"/>
                    <a:pt x="13332" y="13332"/>
                  </a:cubicBezTo>
                  <a:cubicBezTo>
                    <a:pt x="21869" y="4796"/>
                    <a:pt x="33447" y="0"/>
                    <a:pt x="4551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5426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970923" y="6900853"/>
            <a:ext cx="452754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Desvíos de la ruta.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Retrasos en la locomoción.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970923" y="5468293"/>
            <a:ext cx="4527541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 central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centralizada con informacion en tiempo real para alertar: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94473" y="5350333"/>
            <a:ext cx="4527541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económico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alternativas informadas en la locomoción rural suele llevar a: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Utilizar plataformas de transporte privado, generando una tarifa elevada por alta demanda.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44183" y="5536071"/>
            <a:ext cx="4868313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Rigidez de las Herramientas Actuales: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Plataformas con alertas no integran tranporte rural.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colaboracion obligan emitir alertas unicamente en paraderos especificos.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520358" y="5272573"/>
            <a:ext cx="4991251" cy="2797755"/>
            <a:chOff x="0" y="0"/>
            <a:chExt cx="1314568" cy="7368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4568" cy="736857"/>
            </a:xfrm>
            <a:custGeom>
              <a:avLst/>
              <a:gdLst/>
              <a:ahLst/>
              <a:cxnLst/>
              <a:rect r="r" b="b" t="t" l="l"/>
              <a:pathLst>
                <a:path h="736857" w="1314568">
                  <a:moveTo>
                    <a:pt x="43431" y="0"/>
                  </a:moveTo>
                  <a:lnTo>
                    <a:pt x="1271137" y="0"/>
                  </a:lnTo>
                  <a:cubicBezTo>
                    <a:pt x="1282656" y="0"/>
                    <a:pt x="1293703" y="4576"/>
                    <a:pt x="1301848" y="12721"/>
                  </a:cubicBezTo>
                  <a:cubicBezTo>
                    <a:pt x="1309992" y="20865"/>
                    <a:pt x="1314568" y="31912"/>
                    <a:pt x="1314568" y="43431"/>
                  </a:cubicBezTo>
                  <a:lnTo>
                    <a:pt x="1314568" y="693427"/>
                  </a:lnTo>
                  <a:cubicBezTo>
                    <a:pt x="1314568" y="704945"/>
                    <a:pt x="1309992" y="715992"/>
                    <a:pt x="1301848" y="724137"/>
                  </a:cubicBezTo>
                  <a:cubicBezTo>
                    <a:pt x="1293703" y="732282"/>
                    <a:pt x="1282656" y="736857"/>
                    <a:pt x="1271137" y="736857"/>
                  </a:cubicBezTo>
                  <a:lnTo>
                    <a:pt x="43431" y="736857"/>
                  </a:lnTo>
                  <a:cubicBezTo>
                    <a:pt x="31912" y="736857"/>
                    <a:pt x="20865" y="732282"/>
                    <a:pt x="12721" y="724137"/>
                  </a:cubicBezTo>
                  <a:cubicBezTo>
                    <a:pt x="4576" y="715992"/>
                    <a:pt x="0" y="704945"/>
                    <a:pt x="0" y="693427"/>
                  </a:cubicBezTo>
                  <a:lnTo>
                    <a:pt x="0" y="43431"/>
                  </a:lnTo>
                  <a:cubicBezTo>
                    <a:pt x="0" y="31912"/>
                    <a:pt x="4576" y="20865"/>
                    <a:pt x="12721" y="12721"/>
                  </a:cubicBezTo>
                  <a:cubicBezTo>
                    <a:pt x="20865" y="4576"/>
                    <a:pt x="31912" y="0"/>
                    <a:pt x="4343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314568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981008" y="3256486"/>
            <a:ext cx="2491154" cy="4613248"/>
          </a:xfrm>
          <a:custGeom>
            <a:avLst/>
            <a:gdLst/>
            <a:ahLst/>
            <a:cxnLst/>
            <a:rect r="r" b="b" t="t" l="l"/>
            <a:pathLst>
              <a:path h="4613248" w="2491154">
                <a:moveTo>
                  <a:pt x="0" y="0"/>
                </a:moveTo>
                <a:lnTo>
                  <a:pt x="2491154" y="0"/>
                </a:lnTo>
                <a:lnTo>
                  <a:pt x="2491154" y="4613248"/>
                </a:lnTo>
                <a:lnTo>
                  <a:pt x="0" y="4613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064828">
            <a:off x="6067454" y="4106492"/>
            <a:ext cx="1394348" cy="878439"/>
          </a:xfrm>
          <a:custGeom>
            <a:avLst/>
            <a:gdLst/>
            <a:ahLst/>
            <a:cxnLst/>
            <a:rect r="r" b="b" t="t" l="l"/>
            <a:pathLst>
              <a:path h="878439" w="1394348">
                <a:moveTo>
                  <a:pt x="0" y="0"/>
                </a:moveTo>
                <a:lnTo>
                  <a:pt x="1394348" y="0"/>
                </a:lnTo>
                <a:lnTo>
                  <a:pt x="1394348" y="878439"/>
                </a:lnTo>
                <a:lnTo>
                  <a:pt x="0" y="878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071444">
            <a:off x="6176133" y="6136394"/>
            <a:ext cx="1394348" cy="878439"/>
          </a:xfrm>
          <a:custGeom>
            <a:avLst/>
            <a:gdLst/>
            <a:ahLst/>
            <a:cxnLst/>
            <a:rect r="r" b="b" t="t" l="l"/>
            <a:pathLst>
              <a:path h="878439" w="1394348">
                <a:moveTo>
                  <a:pt x="0" y="0"/>
                </a:moveTo>
                <a:lnTo>
                  <a:pt x="1394348" y="0"/>
                </a:lnTo>
                <a:lnTo>
                  <a:pt x="1394348" y="878439"/>
                </a:lnTo>
                <a:lnTo>
                  <a:pt x="0" y="878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9972359">
            <a:off x="10822473" y="4112722"/>
            <a:ext cx="1394348" cy="878439"/>
          </a:xfrm>
          <a:custGeom>
            <a:avLst/>
            <a:gdLst/>
            <a:ahLst/>
            <a:cxnLst/>
            <a:rect r="r" b="b" t="t" l="l"/>
            <a:pathLst>
              <a:path h="878439" w="1394348">
                <a:moveTo>
                  <a:pt x="1394348" y="878440"/>
                </a:moveTo>
                <a:lnTo>
                  <a:pt x="0" y="878440"/>
                </a:lnTo>
                <a:lnTo>
                  <a:pt x="0" y="0"/>
                </a:lnTo>
                <a:lnTo>
                  <a:pt x="1394348" y="0"/>
                </a:lnTo>
                <a:lnTo>
                  <a:pt x="1394348" y="87844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-10064845">
            <a:off x="10767181" y="6137524"/>
            <a:ext cx="1394348" cy="878439"/>
          </a:xfrm>
          <a:custGeom>
            <a:avLst/>
            <a:gdLst/>
            <a:ahLst/>
            <a:cxnLst/>
            <a:rect r="r" b="b" t="t" l="l"/>
            <a:pathLst>
              <a:path h="878439" w="1394348">
                <a:moveTo>
                  <a:pt x="1394348" y="878439"/>
                </a:moveTo>
                <a:lnTo>
                  <a:pt x="0" y="878439"/>
                </a:lnTo>
                <a:lnTo>
                  <a:pt x="0" y="0"/>
                </a:lnTo>
                <a:lnTo>
                  <a:pt x="1394348" y="0"/>
                </a:lnTo>
                <a:lnTo>
                  <a:pt x="1394348" y="8784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9114" y="2098533"/>
            <a:ext cx="4618107" cy="2797755"/>
            <a:chOff x="0" y="0"/>
            <a:chExt cx="1216291" cy="7368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6291" cy="736857"/>
            </a:xfrm>
            <a:custGeom>
              <a:avLst/>
              <a:gdLst/>
              <a:ahLst/>
              <a:cxnLst/>
              <a:rect r="r" b="b" t="t" l="l"/>
              <a:pathLst>
                <a:path h="736857" w="1216291">
                  <a:moveTo>
                    <a:pt x="46940" y="0"/>
                  </a:moveTo>
                  <a:lnTo>
                    <a:pt x="1169351" y="0"/>
                  </a:lnTo>
                  <a:cubicBezTo>
                    <a:pt x="1195276" y="0"/>
                    <a:pt x="1216291" y="21016"/>
                    <a:pt x="1216291" y="46940"/>
                  </a:cubicBezTo>
                  <a:lnTo>
                    <a:pt x="1216291" y="689917"/>
                  </a:lnTo>
                  <a:cubicBezTo>
                    <a:pt x="1216291" y="702367"/>
                    <a:pt x="1211346" y="714306"/>
                    <a:pt x="1202543" y="723109"/>
                  </a:cubicBezTo>
                  <a:cubicBezTo>
                    <a:pt x="1193740" y="731912"/>
                    <a:pt x="1181801" y="736857"/>
                    <a:pt x="1169351" y="736857"/>
                  </a:cubicBezTo>
                  <a:lnTo>
                    <a:pt x="46940" y="736857"/>
                  </a:lnTo>
                  <a:cubicBezTo>
                    <a:pt x="34491" y="736857"/>
                    <a:pt x="22551" y="731912"/>
                    <a:pt x="13748" y="723109"/>
                  </a:cubicBezTo>
                  <a:cubicBezTo>
                    <a:pt x="4945" y="714306"/>
                    <a:pt x="0" y="702367"/>
                    <a:pt x="0" y="689917"/>
                  </a:cubicBezTo>
                  <a:lnTo>
                    <a:pt x="0" y="46940"/>
                  </a:lnTo>
                  <a:cubicBezTo>
                    <a:pt x="0" y="34491"/>
                    <a:pt x="4945" y="22551"/>
                    <a:pt x="13748" y="13748"/>
                  </a:cubicBezTo>
                  <a:cubicBezTo>
                    <a:pt x="22551" y="4945"/>
                    <a:pt x="34491" y="0"/>
                    <a:pt x="4694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1629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6470857"/>
            <a:ext cx="4618107" cy="2797755"/>
            <a:chOff x="0" y="0"/>
            <a:chExt cx="1216291" cy="7368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6291" cy="736857"/>
            </a:xfrm>
            <a:custGeom>
              <a:avLst/>
              <a:gdLst/>
              <a:ahLst/>
              <a:cxnLst/>
              <a:rect r="r" b="b" t="t" l="l"/>
              <a:pathLst>
                <a:path h="736857" w="1216291">
                  <a:moveTo>
                    <a:pt x="46940" y="0"/>
                  </a:moveTo>
                  <a:lnTo>
                    <a:pt x="1169351" y="0"/>
                  </a:lnTo>
                  <a:cubicBezTo>
                    <a:pt x="1195276" y="0"/>
                    <a:pt x="1216291" y="21016"/>
                    <a:pt x="1216291" y="46940"/>
                  </a:cubicBezTo>
                  <a:lnTo>
                    <a:pt x="1216291" y="689917"/>
                  </a:lnTo>
                  <a:cubicBezTo>
                    <a:pt x="1216291" y="702367"/>
                    <a:pt x="1211346" y="714306"/>
                    <a:pt x="1202543" y="723109"/>
                  </a:cubicBezTo>
                  <a:cubicBezTo>
                    <a:pt x="1193740" y="731912"/>
                    <a:pt x="1181801" y="736857"/>
                    <a:pt x="1169351" y="736857"/>
                  </a:cubicBezTo>
                  <a:lnTo>
                    <a:pt x="46940" y="736857"/>
                  </a:lnTo>
                  <a:cubicBezTo>
                    <a:pt x="34491" y="736857"/>
                    <a:pt x="22551" y="731912"/>
                    <a:pt x="13748" y="723109"/>
                  </a:cubicBezTo>
                  <a:cubicBezTo>
                    <a:pt x="4945" y="714306"/>
                    <a:pt x="0" y="702367"/>
                    <a:pt x="0" y="689917"/>
                  </a:cubicBezTo>
                  <a:lnTo>
                    <a:pt x="0" y="46940"/>
                  </a:lnTo>
                  <a:cubicBezTo>
                    <a:pt x="0" y="34491"/>
                    <a:pt x="4945" y="22551"/>
                    <a:pt x="13748" y="13748"/>
                  </a:cubicBezTo>
                  <a:cubicBezTo>
                    <a:pt x="22551" y="4945"/>
                    <a:pt x="34491" y="0"/>
                    <a:pt x="4694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1629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41193" y="2098533"/>
            <a:ext cx="4618107" cy="2797755"/>
            <a:chOff x="0" y="0"/>
            <a:chExt cx="1216291" cy="7368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6291" cy="736857"/>
            </a:xfrm>
            <a:custGeom>
              <a:avLst/>
              <a:gdLst/>
              <a:ahLst/>
              <a:cxnLst/>
              <a:rect r="r" b="b" t="t" l="l"/>
              <a:pathLst>
                <a:path h="736857" w="1216291">
                  <a:moveTo>
                    <a:pt x="46940" y="0"/>
                  </a:moveTo>
                  <a:lnTo>
                    <a:pt x="1169351" y="0"/>
                  </a:lnTo>
                  <a:cubicBezTo>
                    <a:pt x="1195276" y="0"/>
                    <a:pt x="1216291" y="21016"/>
                    <a:pt x="1216291" y="46940"/>
                  </a:cubicBezTo>
                  <a:lnTo>
                    <a:pt x="1216291" y="689917"/>
                  </a:lnTo>
                  <a:cubicBezTo>
                    <a:pt x="1216291" y="702367"/>
                    <a:pt x="1211346" y="714306"/>
                    <a:pt x="1202543" y="723109"/>
                  </a:cubicBezTo>
                  <a:cubicBezTo>
                    <a:pt x="1193740" y="731912"/>
                    <a:pt x="1181801" y="736857"/>
                    <a:pt x="1169351" y="736857"/>
                  </a:cubicBezTo>
                  <a:lnTo>
                    <a:pt x="46940" y="736857"/>
                  </a:lnTo>
                  <a:cubicBezTo>
                    <a:pt x="34491" y="736857"/>
                    <a:pt x="22551" y="731912"/>
                    <a:pt x="13748" y="723109"/>
                  </a:cubicBezTo>
                  <a:cubicBezTo>
                    <a:pt x="4945" y="714306"/>
                    <a:pt x="0" y="702367"/>
                    <a:pt x="0" y="689917"/>
                  </a:cubicBezTo>
                  <a:lnTo>
                    <a:pt x="0" y="46940"/>
                  </a:lnTo>
                  <a:cubicBezTo>
                    <a:pt x="0" y="34491"/>
                    <a:pt x="4945" y="22551"/>
                    <a:pt x="13748" y="13748"/>
                  </a:cubicBezTo>
                  <a:cubicBezTo>
                    <a:pt x="22551" y="4945"/>
                    <a:pt x="34491" y="0"/>
                    <a:pt x="4694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1629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41193" y="6460545"/>
            <a:ext cx="4618107" cy="2797755"/>
            <a:chOff x="0" y="0"/>
            <a:chExt cx="1216291" cy="7368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6291" cy="736857"/>
            </a:xfrm>
            <a:custGeom>
              <a:avLst/>
              <a:gdLst/>
              <a:ahLst/>
              <a:cxnLst/>
              <a:rect r="r" b="b" t="t" l="l"/>
              <a:pathLst>
                <a:path h="736857" w="1216291">
                  <a:moveTo>
                    <a:pt x="67057" y="0"/>
                  </a:moveTo>
                  <a:lnTo>
                    <a:pt x="1149234" y="0"/>
                  </a:lnTo>
                  <a:cubicBezTo>
                    <a:pt x="1186269" y="0"/>
                    <a:pt x="1216291" y="30022"/>
                    <a:pt x="1216291" y="67057"/>
                  </a:cubicBezTo>
                  <a:lnTo>
                    <a:pt x="1216291" y="669800"/>
                  </a:lnTo>
                  <a:cubicBezTo>
                    <a:pt x="1216291" y="687585"/>
                    <a:pt x="1209227" y="704641"/>
                    <a:pt x="1196651" y="717217"/>
                  </a:cubicBezTo>
                  <a:cubicBezTo>
                    <a:pt x="1184075" y="729792"/>
                    <a:pt x="1167019" y="736857"/>
                    <a:pt x="1149234" y="736857"/>
                  </a:cubicBezTo>
                  <a:lnTo>
                    <a:pt x="67057" y="736857"/>
                  </a:lnTo>
                  <a:cubicBezTo>
                    <a:pt x="49272" y="736857"/>
                    <a:pt x="32216" y="729792"/>
                    <a:pt x="19641" y="717217"/>
                  </a:cubicBezTo>
                  <a:cubicBezTo>
                    <a:pt x="7065" y="704641"/>
                    <a:pt x="0" y="687585"/>
                    <a:pt x="0" y="669800"/>
                  </a:cubicBezTo>
                  <a:lnTo>
                    <a:pt x="0" y="67057"/>
                  </a:lnTo>
                  <a:cubicBezTo>
                    <a:pt x="0" y="49272"/>
                    <a:pt x="7065" y="32216"/>
                    <a:pt x="19641" y="19641"/>
                  </a:cubicBezTo>
                  <a:cubicBezTo>
                    <a:pt x="32216" y="7065"/>
                    <a:pt x="49272" y="0"/>
                    <a:pt x="6705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16291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587904" y="3717503"/>
            <a:ext cx="1277362" cy="1427220"/>
          </a:xfrm>
          <a:custGeom>
            <a:avLst/>
            <a:gdLst/>
            <a:ahLst/>
            <a:cxnLst/>
            <a:rect r="r" b="b" t="t" l="l"/>
            <a:pathLst>
              <a:path h="1427220" w="1277362">
                <a:moveTo>
                  <a:pt x="0" y="0"/>
                </a:moveTo>
                <a:lnTo>
                  <a:pt x="1277362" y="0"/>
                </a:lnTo>
                <a:lnTo>
                  <a:pt x="1277362" y="1427220"/>
                </a:lnTo>
                <a:lnTo>
                  <a:pt x="0" y="14272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503888" y="5255685"/>
            <a:ext cx="1445394" cy="1011776"/>
          </a:xfrm>
          <a:custGeom>
            <a:avLst/>
            <a:gdLst/>
            <a:ahLst/>
            <a:cxnLst/>
            <a:rect r="r" b="b" t="t" l="l"/>
            <a:pathLst>
              <a:path h="1011776" w="1445394">
                <a:moveTo>
                  <a:pt x="0" y="0"/>
                </a:moveTo>
                <a:lnTo>
                  <a:pt x="1445394" y="0"/>
                </a:lnTo>
                <a:lnTo>
                  <a:pt x="1445394" y="1011776"/>
                </a:lnTo>
                <a:lnTo>
                  <a:pt x="0" y="1011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557855" y="6378423"/>
            <a:ext cx="1337459" cy="1237150"/>
          </a:xfrm>
          <a:custGeom>
            <a:avLst/>
            <a:gdLst/>
            <a:ahLst/>
            <a:cxnLst/>
            <a:rect r="r" b="b" t="t" l="l"/>
            <a:pathLst>
              <a:path h="1237150" w="1337459">
                <a:moveTo>
                  <a:pt x="0" y="0"/>
                </a:moveTo>
                <a:lnTo>
                  <a:pt x="1337460" y="0"/>
                </a:lnTo>
                <a:lnTo>
                  <a:pt x="1337460" y="1237150"/>
                </a:lnTo>
                <a:lnTo>
                  <a:pt x="0" y="1237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805953" y="8049484"/>
            <a:ext cx="1502768" cy="954258"/>
          </a:xfrm>
          <a:custGeom>
            <a:avLst/>
            <a:gdLst/>
            <a:ahLst/>
            <a:cxnLst/>
            <a:rect r="r" b="b" t="t" l="l"/>
            <a:pathLst>
              <a:path h="954258" w="1502768">
                <a:moveTo>
                  <a:pt x="0" y="0"/>
                </a:moveTo>
                <a:lnTo>
                  <a:pt x="1502768" y="0"/>
                </a:lnTo>
                <a:lnTo>
                  <a:pt x="1502768" y="954257"/>
                </a:lnTo>
                <a:lnTo>
                  <a:pt x="0" y="9542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873314" y="7719367"/>
            <a:ext cx="1080435" cy="1394110"/>
          </a:xfrm>
          <a:custGeom>
            <a:avLst/>
            <a:gdLst/>
            <a:ahLst/>
            <a:cxnLst/>
            <a:rect r="r" b="b" t="t" l="l"/>
            <a:pathLst>
              <a:path h="1394110" w="1080435">
                <a:moveTo>
                  <a:pt x="0" y="0"/>
                </a:moveTo>
                <a:lnTo>
                  <a:pt x="1080435" y="0"/>
                </a:lnTo>
                <a:lnTo>
                  <a:pt x="1080435" y="1394110"/>
                </a:lnTo>
                <a:lnTo>
                  <a:pt x="0" y="13941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6268258" y="3717503"/>
            <a:ext cx="685491" cy="993465"/>
          </a:xfrm>
          <a:custGeom>
            <a:avLst/>
            <a:gdLst/>
            <a:ahLst/>
            <a:cxnLst/>
            <a:rect r="r" b="b" t="t" l="l"/>
            <a:pathLst>
              <a:path h="993465" w="685491">
                <a:moveTo>
                  <a:pt x="0" y="0"/>
                </a:moveTo>
                <a:lnTo>
                  <a:pt x="685491" y="0"/>
                </a:lnTo>
                <a:lnTo>
                  <a:pt x="685491" y="993465"/>
                </a:lnTo>
                <a:lnTo>
                  <a:pt x="0" y="99346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030651" y="3559663"/>
            <a:ext cx="1215723" cy="1215723"/>
          </a:xfrm>
          <a:custGeom>
            <a:avLst/>
            <a:gdLst/>
            <a:ahLst/>
            <a:cxnLst/>
            <a:rect r="r" b="b" t="t" l="l"/>
            <a:pathLst>
              <a:path h="1215723" w="1215723">
                <a:moveTo>
                  <a:pt x="0" y="0"/>
                </a:moveTo>
                <a:lnTo>
                  <a:pt x="1215724" y="0"/>
                </a:lnTo>
                <a:lnTo>
                  <a:pt x="1215724" y="1215724"/>
                </a:lnTo>
                <a:lnTo>
                  <a:pt x="0" y="12157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43088" y="6656909"/>
            <a:ext cx="4389332" cy="186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Validación espacial (Geofencing):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Reportes dinámicos en ruta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 por GPS 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</a:t>
            </a:r>
          </a:p>
          <a:p>
            <a:pPr algn="l">
              <a:lnSpc>
                <a:spcPts val="296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2755581" y="2297822"/>
            <a:ext cx="4389332" cy="186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 de Notificaciones y Favoritos: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Favoritos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Enfoque simple y continuo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Enfoque programado </a:t>
            </a:r>
          </a:p>
          <a:p>
            <a:pPr algn="l">
              <a:lnSpc>
                <a:spcPts val="296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2869968" y="6750412"/>
            <a:ext cx="4389332" cy="111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 Colaborativo y Reputación: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Votación rápida y comentarios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de reputación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3088" y="2297822"/>
            <a:ext cx="4389332" cy="186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Propuesta Central (MiR</a:t>
            </a: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utApp):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Locomoción urbana y rural 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colaborativa</a:t>
            </a:r>
          </a:p>
          <a:p>
            <a:pPr algn="l" marL="457925" indent="-228962" lvl="1">
              <a:lnSpc>
                <a:spcPts val="2969"/>
              </a:lnSpc>
              <a:buFont typeface="Arial"/>
              <a:buChar char="•"/>
            </a:pPr>
            <a:r>
              <a:rPr lang="en-US" sz="2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Alertas dinamicas</a:t>
            </a:r>
          </a:p>
          <a:p>
            <a:pPr algn="l">
              <a:lnSpc>
                <a:spcPts val="2969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Metodología de Desarrollo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86299" y="2422157"/>
            <a:ext cx="64016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 Ágil: Scrum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6299" y="4767957"/>
            <a:ext cx="64016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¿Por qué Scrum?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6299" y="7118603"/>
            <a:ext cx="640167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Enfoque del proyecto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87193" y="2254467"/>
            <a:ext cx="3299943" cy="706855"/>
            <a:chOff x="0" y="0"/>
            <a:chExt cx="869121" cy="1861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9121" cy="186168"/>
            </a:xfrm>
            <a:custGeom>
              <a:avLst/>
              <a:gdLst/>
              <a:ahLst/>
              <a:cxnLst/>
              <a:rect r="r" b="b" t="t" l="l"/>
              <a:pathLst>
                <a:path h="186168" w="869121">
                  <a:moveTo>
                    <a:pt x="65690" y="0"/>
                  </a:moveTo>
                  <a:lnTo>
                    <a:pt x="803431" y="0"/>
                  </a:lnTo>
                  <a:cubicBezTo>
                    <a:pt x="839710" y="0"/>
                    <a:pt x="869121" y="29410"/>
                    <a:pt x="869121" y="65690"/>
                  </a:cubicBezTo>
                  <a:lnTo>
                    <a:pt x="869121" y="120478"/>
                  </a:lnTo>
                  <a:cubicBezTo>
                    <a:pt x="869121" y="156757"/>
                    <a:pt x="839710" y="186168"/>
                    <a:pt x="803431" y="186168"/>
                  </a:cubicBezTo>
                  <a:lnTo>
                    <a:pt x="65690" y="186168"/>
                  </a:lnTo>
                  <a:cubicBezTo>
                    <a:pt x="29410" y="186168"/>
                    <a:pt x="0" y="156757"/>
                    <a:pt x="0" y="120478"/>
                  </a:cubicBezTo>
                  <a:lnTo>
                    <a:pt x="0" y="65690"/>
                  </a:lnTo>
                  <a:cubicBezTo>
                    <a:pt x="0" y="29410"/>
                    <a:pt x="29410" y="0"/>
                    <a:pt x="6569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9121" cy="233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7193" y="4638243"/>
            <a:ext cx="2530280" cy="630903"/>
            <a:chOff x="0" y="0"/>
            <a:chExt cx="666411" cy="1661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6411" cy="166164"/>
            </a:xfrm>
            <a:custGeom>
              <a:avLst/>
              <a:gdLst/>
              <a:ahLst/>
              <a:cxnLst/>
              <a:rect r="r" b="b" t="t" l="l"/>
              <a:pathLst>
                <a:path h="166164" w="666411">
                  <a:moveTo>
                    <a:pt x="83082" y="0"/>
                  </a:moveTo>
                  <a:lnTo>
                    <a:pt x="583329" y="0"/>
                  </a:lnTo>
                  <a:cubicBezTo>
                    <a:pt x="629214" y="0"/>
                    <a:pt x="666411" y="37197"/>
                    <a:pt x="666411" y="83082"/>
                  </a:cubicBezTo>
                  <a:lnTo>
                    <a:pt x="666411" y="83082"/>
                  </a:lnTo>
                  <a:cubicBezTo>
                    <a:pt x="666411" y="105117"/>
                    <a:pt x="657658" y="126249"/>
                    <a:pt x="642077" y="141830"/>
                  </a:cubicBezTo>
                  <a:cubicBezTo>
                    <a:pt x="626496" y="157410"/>
                    <a:pt x="605364" y="166164"/>
                    <a:pt x="583329" y="166164"/>
                  </a:cubicBezTo>
                  <a:lnTo>
                    <a:pt x="83082" y="166164"/>
                  </a:lnTo>
                  <a:cubicBezTo>
                    <a:pt x="61047" y="166164"/>
                    <a:pt x="39915" y="157410"/>
                    <a:pt x="24334" y="141830"/>
                  </a:cubicBezTo>
                  <a:cubicBezTo>
                    <a:pt x="8753" y="126249"/>
                    <a:pt x="0" y="105117"/>
                    <a:pt x="0" y="83082"/>
                  </a:cubicBezTo>
                  <a:lnTo>
                    <a:pt x="0" y="83082"/>
                  </a:lnTo>
                  <a:cubicBezTo>
                    <a:pt x="0" y="61047"/>
                    <a:pt x="8753" y="39915"/>
                    <a:pt x="24334" y="24334"/>
                  </a:cubicBezTo>
                  <a:cubicBezTo>
                    <a:pt x="39915" y="8753"/>
                    <a:pt x="61047" y="0"/>
                    <a:pt x="8308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66411" cy="213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7193" y="6959609"/>
            <a:ext cx="2812319" cy="689462"/>
            <a:chOff x="0" y="0"/>
            <a:chExt cx="740693" cy="1815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0693" cy="181587"/>
            </a:xfrm>
            <a:custGeom>
              <a:avLst/>
              <a:gdLst/>
              <a:ahLst/>
              <a:cxnLst/>
              <a:rect r="r" b="b" t="t" l="l"/>
              <a:pathLst>
                <a:path h="181587" w="740693">
                  <a:moveTo>
                    <a:pt x="77080" y="0"/>
                  </a:moveTo>
                  <a:lnTo>
                    <a:pt x="663613" y="0"/>
                  </a:lnTo>
                  <a:cubicBezTo>
                    <a:pt x="706183" y="0"/>
                    <a:pt x="740693" y="34510"/>
                    <a:pt x="740693" y="77080"/>
                  </a:cubicBezTo>
                  <a:lnTo>
                    <a:pt x="740693" y="104507"/>
                  </a:lnTo>
                  <a:cubicBezTo>
                    <a:pt x="740693" y="147077"/>
                    <a:pt x="706183" y="181587"/>
                    <a:pt x="663613" y="181587"/>
                  </a:cubicBezTo>
                  <a:lnTo>
                    <a:pt x="77080" y="181587"/>
                  </a:lnTo>
                  <a:cubicBezTo>
                    <a:pt x="34510" y="181587"/>
                    <a:pt x="0" y="147077"/>
                    <a:pt x="0" y="104507"/>
                  </a:cubicBezTo>
                  <a:lnTo>
                    <a:pt x="0" y="77080"/>
                  </a:lnTo>
                  <a:cubicBezTo>
                    <a:pt x="0" y="34510"/>
                    <a:pt x="34510" y="0"/>
                    <a:pt x="7708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0693" cy="229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161325" y="1999526"/>
            <a:ext cx="3197507" cy="2190292"/>
          </a:xfrm>
          <a:custGeom>
            <a:avLst/>
            <a:gdLst/>
            <a:ahLst/>
            <a:cxnLst/>
            <a:rect r="r" b="b" t="t" l="l"/>
            <a:pathLst>
              <a:path h="2190292" w="3197507">
                <a:moveTo>
                  <a:pt x="0" y="0"/>
                </a:moveTo>
                <a:lnTo>
                  <a:pt x="3197506" y="0"/>
                </a:lnTo>
                <a:lnTo>
                  <a:pt x="3197506" y="2190293"/>
                </a:lnTo>
                <a:lnTo>
                  <a:pt x="0" y="2190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161325" y="5936225"/>
            <a:ext cx="3197507" cy="3069606"/>
          </a:xfrm>
          <a:custGeom>
            <a:avLst/>
            <a:gdLst/>
            <a:ahLst/>
            <a:cxnLst/>
            <a:rect r="r" b="b" t="t" l="l"/>
            <a:pathLst>
              <a:path h="3069606" w="3197507">
                <a:moveTo>
                  <a:pt x="0" y="0"/>
                </a:moveTo>
                <a:lnTo>
                  <a:pt x="3197506" y="0"/>
                </a:lnTo>
                <a:lnTo>
                  <a:pt x="3197506" y="3069606"/>
                </a:lnTo>
                <a:lnTo>
                  <a:pt x="0" y="3069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87193" y="3085147"/>
            <a:ext cx="1247293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metodologia nos permite adaptar continuamente los procesos y entregables del proyecto.</a:t>
            </a:r>
          </a:p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Estructuramos 14 semanas en 7 sprints de 2 semanas.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33545" y="5407034"/>
            <a:ext cx="1247293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 que esta metodologia permite mitigar los riesgos que puedan presentarse a tiempo temprano, permitiendo pruebas tras los primeros sprints.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34439" y="7775828"/>
            <a:ext cx="119237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una aplicación funcional para mantener informado a sus usuarios sobre el recorrido en tiempo real, gestionando un sistema de alertas sobre los inconvenientes, retrasos o desviaciones.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377045" y="4033329"/>
            <a:ext cx="10510355" cy="3205658"/>
          </a:xfrm>
          <a:custGeom>
            <a:avLst/>
            <a:gdLst/>
            <a:ahLst/>
            <a:cxnLst/>
            <a:rect r="r" b="b" t="t" l="l"/>
            <a:pathLst>
              <a:path h="3205658" w="10510355">
                <a:moveTo>
                  <a:pt x="0" y="0"/>
                </a:moveTo>
                <a:lnTo>
                  <a:pt x="10510355" y="0"/>
                </a:lnTo>
                <a:lnTo>
                  <a:pt x="10510355" y="3205659"/>
                </a:lnTo>
                <a:lnTo>
                  <a:pt x="0" y="3205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58621" y="7289953"/>
            <a:ext cx="2460435" cy="100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1 - 2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 y Mapeo</a:t>
            </a:r>
          </a:p>
          <a:p>
            <a:pPr algn="ctr">
              <a:lnSpc>
                <a:spcPts val="268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399680" y="2940498"/>
            <a:ext cx="2534779" cy="100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3 - 4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del sistema</a:t>
            </a:r>
          </a:p>
          <a:p>
            <a:pPr algn="ctr">
              <a:lnSpc>
                <a:spcPts val="268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326346" y="7546262"/>
            <a:ext cx="3095421" cy="100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5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de Estrés con GPS </a:t>
            </a:r>
          </a:p>
          <a:p>
            <a:pPr algn="ctr">
              <a:lnSpc>
                <a:spcPts val="268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891841" y="2810976"/>
            <a:ext cx="2653024" cy="100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6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Despliegue en terreno  </a:t>
            </a:r>
          </a:p>
          <a:p>
            <a:pPr algn="ctr">
              <a:lnSpc>
                <a:spcPts val="268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324875" y="3557320"/>
            <a:ext cx="3606726" cy="134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7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Correción de Vulnerabilidades y</a:t>
            </a:r>
          </a:p>
          <a:p>
            <a:pPr algn="ctr">
              <a:lnSpc>
                <a:spcPts val="2684"/>
              </a:lnSpc>
            </a:pPr>
            <a:r>
              <a:rPr lang="en-US" sz="19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publicación en app móviles</a:t>
            </a:r>
          </a:p>
          <a:p>
            <a:pPr algn="ctr">
              <a:lnSpc>
                <a:spcPts val="2684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2319754" y="7189411"/>
            <a:ext cx="2708410" cy="1107648"/>
            <a:chOff x="0" y="0"/>
            <a:chExt cx="713326" cy="2917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326" cy="291726"/>
            </a:xfrm>
            <a:custGeom>
              <a:avLst/>
              <a:gdLst/>
              <a:ahLst/>
              <a:cxnLst/>
              <a:rect r="r" b="b" t="t" l="l"/>
              <a:pathLst>
                <a:path h="291726" w="713326">
                  <a:moveTo>
                    <a:pt x="80037" y="0"/>
                  </a:moveTo>
                  <a:lnTo>
                    <a:pt x="633289" y="0"/>
                  </a:lnTo>
                  <a:cubicBezTo>
                    <a:pt x="654516" y="0"/>
                    <a:pt x="674874" y="8432"/>
                    <a:pt x="689884" y="23442"/>
                  </a:cubicBezTo>
                  <a:cubicBezTo>
                    <a:pt x="704894" y="38452"/>
                    <a:pt x="713326" y="58810"/>
                    <a:pt x="713326" y="80037"/>
                  </a:cubicBezTo>
                  <a:lnTo>
                    <a:pt x="713326" y="211689"/>
                  </a:lnTo>
                  <a:cubicBezTo>
                    <a:pt x="713326" y="255892"/>
                    <a:pt x="677492" y="291726"/>
                    <a:pt x="633289" y="291726"/>
                  </a:cubicBezTo>
                  <a:lnTo>
                    <a:pt x="80037" y="291726"/>
                  </a:lnTo>
                  <a:cubicBezTo>
                    <a:pt x="58810" y="291726"/>
                    <a:pt x="38452" y="283294"/>
                    <a:pt x="23442" y="268284"/>
                  </a:cubicBezTo>
                  <a:cubicBezTo>
                    <a:pt x="8432" y="253274"/>
                    <a:pt x="0" y="232916"/>
                    <a:pt x="0" y="211689"/>
                  </a:cubicBezTo>
                  <a:lnTo>
                    <a:pt x="0" y="80037"/>
                  </a:lnTo>
                  <a:cubicBezTo>
                    <a:pt x="0" y="35834"/>
                    <a:pt x="35834" y="0"/>
                    <a:pt x="8003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13326" cy="339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53488" y="2779755"/>
            <a:ext cx="2827164" cy="1107648"/>
            <a:chOff x="0" y="0"/>
            <a:chExt cx="744603" cy="2917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4603" cy="291726"/>
            </a:xfrm>
            <a:custGeom>
              <a:avLst/>
              <a:gdLst/>
              <a:ahLst/>
              <a:cxnLst/>
              <a:rect r="r" b="b" t="t" l="l"/>
              <a:pathLst>
                <a:path h="291726" w="744603">
                  <a:moveTo>
                    <a:pt x="76675" y="0"/>
                  </a:moveTo>
                  <a:lnTo>
                    <a:pt x="667927" y="0"/>
                  </a:lnTo>
                  <a:cubicBezTo>
                    <a:pt x="688263" y="0"/>
                    <a:pt x="707766" y="8078"/>
                    <a:pt x="722145" y="22458"/>
                  </a:cubicBezTo>
                  <a:cubicBezTo>
                    <a:pt x="736524" y="36837"/>
                    <a:pt x="744603" y="56340"/>
                    <a:pt x="744603" y="76675"/>
                  </a:cubicBezTo>
                  <a:lnTo>
                    <a:pt x="744603" y="215051"/>
                  </a:lnTo>
                  <a:cubicBezTo>
                    <a:pt x="744603" y="257397"/>
                    <a:pt x="710274" y="291726"/>
                    <a:pt x="667927" y="291726"/>
                  </a:cubicBezTo>
                  <a:lnTo>
                    <a:pt x="76675" y="291726"/>
                  </a:lnTo>
                  <a:cubicBezTo>
                    <a:pt x="34329" y="291726"/>
                    <a:pt x="0" y="257397"/>
                    <a:pt x="0" y="215051"/>
                  </a:cubicBezTo>
                  <a:lnTo>
                    <a:pt x="0" y="76675"/>
                  </a:lnTo>
                  <a:cubicBezTo>
                    <a:pt x="0" y="34329"/>
                    <a:pt x="34329" y="0"/>
                    <a:pt x="7667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4603" cy="339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00701" y="7458063"/>
            <a:ext cx="3346709" cy="1107648"/>
            <a:chOff x="0" y="0"/>
            <a:chExt cx="881438" cy="2917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1438" cy="291726"/>
            </a:xfrm>
            <a:custGeom>
              <a:avLst/>
              <a:gdLst/>
              <a:ahLst/>
              <a:cxnLst/>
              <a:rect r="r" b="b" t="t" l="l"/>
              <a:pathLst>
                <a:path h="291726" w="881438">
                  <a:moveTo>
                    <a:pt x="64772" y="0"/>
                  </a:moveTo>
                  <a:lnTo>
                    <a:pt x="816666" y="0"/>
                  </a:lnTo>
                  <a:cubicBezTo>
                    <a:pt x="833844" y="0"/>
                    <a:pt x="850319" y="6824"/>
                    <a:pt x="862466" y="18971"/>
                  </a:cubicBezTo>
                  <a:cubicBezTo>
                    <a:pt x="874614" y="31118"/>
                    <a:pt x="881438" y="47594"/>
                    <a:pt x="881438" y="64772"/>
                  </a:cubicBezTo>
                  <a:lnTo>
                    <a:pt x="881438" y="226954"/>
                  </a:lnTo>
                  <a:cubicBezTo>
                    <a:pt x="881438" y="262727"/>
                    <a:pt x="852438" y="291726"/>
                    <a:pt x="816666" y="291726"/>
                  </a:cubicBezTo>
                  <a:lnTo>
                    <a:pt x="64772" y="291726"/>
                  </a:lnTo>
                  <a:cubicBezTo>
                    <a:pt x="47594" y="291726"/>
                    <a:pt x="31118" y="284902"/>
                    <a:pt x="18971" y="272755"/>
                  </a:cubicBezTo>
                  <a:cubicBezTo>
                    <a:pt x="6824" y="260608"/>
                    <a:pt x="0" y="244133"/>
                    <a:pt x="0" y="226954"/>
                  </a:cubicBezTo>
                  <a:lnTo>
                    <a:pt x="0" y="64772"/>
                  </a:lnTo>
                  <a:cubicBezTo>
                    <a:pt x="0" y="29000"/>
                    <a:pt x="29000" y="0"/>
                    <a:pt x="6477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81438" cy="339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25745" y="2779755"/>
            <a:ext cx="2819120" cy="1107648"/>
            <a:chOff x="0" y="0"/>
            <a:chExt cx="742484" cy="2917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2484" cy="291726"/>
            </a:xfrm>
            <a:custGeom>
              <a:avLst/>
              <a:gdLst/>
              <a:ahLst/>
              <a:cxnLst/>
              <a:rect r="r" b="b" t="t" l="l"/>
              <a:pathLst>
                <a:path h="291726" w="742484">
                  <a:moveTo>
                    <a:pt x="76894" y="0"/>
                  </a:moveTo>
                  <a:lnTo>
                    <a:pt x="665590" y="0"/>
                  </a:lnTo>
                  <a:cubicBezTo>
                    <a:pt x="685984" y="0"/>
                    <a:pt x="705542" y="8101"/>
                    <a:pt x="719962" y="22522"/>
                  </a:cubicBezTo>
                  <a:cubicBezTo>
                    <a:pt x="734383" y="36942"/>
                    <a:pt x="742484" y="56501"/>
                    <a:pt x="742484" y="76894"/>
                  </a:cubicBezTo>
                  <a:lnTo>
                    <a:pt x="742484" y="214832"/>
                  </a:lnTo>
                  <a:cubicBezTo>
                    <a:pt x="742484" y="257299"/>
                    <a:pt x="708058" y="291726"/>
                    <a:pt x="665590" y="291726"/>
                  </a:cubicBezTo>
                  <a:lnTo>
                    <a:pt x="76894" y="291726"/>
                  </a:lnTo>
                  <a:cubicBezTo>
                    <a:pt x="34427" y="291726"/>
                    <a:pt x="0" y="257299"/>
                    <a:pt x="0" y="214832"/>
                  </a:cubicBezTo>
                  <a:lnTo>
                    <a:pt x="0" y="76894"/>
                  </a:lnTo>
                  <a:cubicBezTo>
                    <a:pt x="0" y="34427"/>
                    <a:pt x="34427" y="0"/>
                    <a:pt x="7689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42484" cy="339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98624" y="3463101"/>
            <a:ext cx="4059228" cy="1305041"/>
            <a:chOff x="0" y="0"/>
            <a:chExt cx="1069097" cy="34371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9097" cy="343714"/>
            </a:xfrm>
            <a:custGeom>
              <a:avLst/>
              <a:gdLst/>
              <a:ahLst/>
              <a:cxnLst/>
              <a:rect r="r" b="b" t="t" l="l"/>
              <a:pathLst>
                <a:path h="343714" w="1069097">
                  <a:moveTo>
                    <a:pt x="53403" y="0"/>
                  </a:moveTo>
                  <a:lnTo>
                    <a:pt x="1015695" y="0"/>
                  </a:lnTo>
                  <a:cubicBezTo>
                    <a:pt x="1045188" y="0"/>
                    <a:pt x="1069097" y="23909"/>
                    <a:pt x="1069097" y="53403"/>
                  </a:cubicBezTo>
                  <a:lnTo>
                    <a:pt x="1069097" y="290312"/>
                  </a:lnTo>
                  <a:cubicBezTo>
                    <a:pt x="1069097" y="319805"/>
                    <a:pt x="1045188" y="343714"/>
                    <a:pt x="1015695" y="343714"/>
                  </a:cubicBezTo>
                  <a:lnTo>
                    <a:pt x="53403" y="343714"/>
                  </a:lnTo>
                  <a:cubicBezTo>
                    <a:pt x="23909" y="343714"/>
                    <a:pt x="0" y="319805"/>
                    <a:pt x="0" y="290312"/>
                  </a:cubicBezTo>
                  <a:lnTo>
                    <a:pt x="0" y="53403"/>
                  </a:lnTo>
                  <a:cubicBezTo>
                    <a:pt x="0" y="23909"/>
                    <a:pt x="23909" y="0"/>
                    <a:pt x="5340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69097" cy="391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590020" y="3978209"/>
            <a:ext cx="3476825" cy="2955301"/>
          </a:xfrm>
          <a:custGeom>
            <a:avLst/>
            <a:gdLst/>
            <a:ahLst/>
            <a:cxnLst/>
            <a:rect r="r" b="b" t="t" l="l"/>
            <a:pathLst>
              <a:path h="2955301" w="3476825">
                <a:moveTo>
                  <a:pt x="0" y="0"/>
                </a:moveTo>
                <a:lnTo>
                  <a:pt x="3476825" y="0"/>
                </a:lnTo>
                <a:lnTo>
                  <a:pt x="3476825" y="2955301"/>
                </a:lnTo>
                <a:lnTo>
                  <a:pt x="0" y="29553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0333" y="3537414"/>
            <a:ext cx="7736774" cy="381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Bastian Rojas </a:t>
            </a:r>
          </a:p>
          <a:p>
            <a:pPr algn="l">
              <a:lnSpc>
                <a:spcPts val="3045"/>
              </a:lnSpc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Owner y Diseñador UI/UX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Christopher Sepulveda</a:t>
            </a:r>
          </a:p>
          <a:p>
            <a:pPr algn="l">
              <a:lnSpc>
                <a:spcPts val="3045"/>
              </a:lnSpc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 Master y Desarrollador Backend/DB</a:t>
            </a: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</a:p>
          <a:p>
            <a:pPr algn="l">
              <a:lnSpc>
                <a:spcPts val="3045"/>
              </a:lnSpc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Sebastian Lobos</a:t>
            </a:r>
          </a:p>
          <a:p>
            <a:pPr algn="l">
              <a:lnSpc>
                <a:spcPts val="3045"/>
              </a:lnSpc>
              <a:spcBef>
                <a:spcPct val="0"/>
              </a:spcBef>
            </a:pPr>
            <a:r>
              <a:rPr lang="en-US" sz="2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Lider QA y Especialista Geografico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1744" y="1550670"/>
            <a:ext cx="15238539" cy="335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1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Desarrollo de Competencias Profesionales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7818" y="5756304"/>
            <a:ext cx="432589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11496" y="5323807"/>
            <a:ext cx="4762279" cy="2797755"/>
            <a:chOff x="0" y="0"/>
            <a:chExt cx="1254263" cy="7368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4263" cy="736857"/>
            </a:xfrm>
            <a:custGeom>
              <a:avLst/>
              <a:gdLst/>
              <a:ahLst/>
              <a:cxnLst/>
              <a:rect r="r" b="b" t="t" l="l"/>
              <a:pathLst>
                <a:path h="736857" w="1254263">
                  <a:moveTo>
                    <a:pt x="45519" y="0"/>
                  </a:moveTo>
                  <a:lnTo>
                    <a:pt x="1208744" y="0"/>
                  </a:lnTo>
                  <a:cubicBezTo>
                    <a:pt x="1220816" y="0"/>
                    <a:pt x="1232394" y="4796"/>
                    <a:pt x="1240931" y="13332"/>
                  </a:cubicBezTo>
                  <a:cubicBezTo>
                    <a:pt x="1249467" y="21869"/>
                    <a:pt x="1254263" y="33447"/>
                    <a:pt x="1254263" y="45519"/>
                  </a:cubicBezTo>
                  <a:lnTo>
                    <a:pt x="1254263" y="691338"/>
                  </a:lnTo>
                  <a:cubicBezTo>
                    <a:pt x="1254263" y="716478"/>
                    <a:pt x="1233883" y="736857"/>
                    <a:pt x="1208744" y="736857"/>
                  </a:cubicBezTo>
                  <a:lnTo>
                    <a:pt x="45519" y="736857"/>
                  </a:lnTo>
                  <a:cubicBezTo>
                    <a:pt x="33447" y="736857"/>
                    <a:pt x="21869" y="732062"/>
                    <a:pt x="13332" y="723525"/>
                  </a:cubicBezTo>
                  <a:cubicBezTo>
                    <a:pt x="4796" y="714989"/>
                    <a:pt x="0" y="703411"/>
                    <a:pt x="0" y="691338"/>
                  </a:cubicBezTo>
                  <a:lnTo>
                    <a:pt x="0" y="45519"/>
                  </a:lnTo>
                  <a:cubicBezTo>
                    <a:pt x="0" y="33447"/>
                    <a:pt x="4796" y="21869"/>
                    <a:pt x="13332" y="13332"/>
                  </a:cubicBezTo>
                  <a:cubicBezTo>
                    <a:pt x="21869" y="4796"/>
                    <a:pt x="33447" y="0"/>
                    <a:pt x="4551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5426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34817" y="5323807"/>
            <a:ext cx="4762279" cy="2797755"/>
            <a:chOff x="0" y="0"/>
            <a:chExt cx="1254263" cy="7368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4263" cy="736857"/>
            </a:xfrm>
            <a:custGeom>
              <a:avLst/>
              <a:gdLst/>
              <a:ahLst/>
              <a:cxnLst/>
              <a:rect r="r" b="b" t="t" l="l"/>
              <a:pathLst>
                <a:path h="736857" w="1254263">
                  <a:moveTo>
                    <a:pt x="45519" y="0"/>
                  </a:moveTo>
                  <a:lnTo>
                    <a:pt x="1208744" y="0"/>
                  </a:lnTo>
                  <a:cubicBezTo>
                    <a:pt x="1220816" y="0"/>
                    <a:pt x="1232394" y="4796"/>
                    <a:pt x="1240931" y="13332"/>
                  </a:cubicBezTo>
                  <a:cubicBezTo>
                    <a:pt x="1249467" y="21869"/>
                    <a:pt x="1254263" y="33447"/>
                    <a:pt x="1254263" y="45519"/>
                  </a:cubicBezTo>
                  <a:lnTo>
                    <a:pt x="1254263" y="691338"/>
                  </a:lnTo>
                  <a:cubicBezTo>
                    <a:pt x="1254263" y="716478"/>
                    <a:pt x="1233883" y="736857"/>
                    <a:pt x="1208744" y="736857"/>
                  </a:cubicBezTo>
                  <a:lnTo>
                    <a:pt x="45519" y="736857"/>
                  </a:lnTo>
                  <a:cubicBezTo>
                    <a:pt x="33447" y="736857"/>
                    <a:pt x="21869" y="732062"/>
                    <a:pt x="13332" y="723525"/>
                  </a:cubicBezTo>
                  <a:cubicBezTo>
                    <a:pt x="4796" y="714989"/>
                    <a:pt x="0" y="703411"/>
                    <a:pt x="0" y="691338"/>
                  </a:cubicBezTo>
                  <a:lnTo>
                    <a:pt x="0" y="45519"/>
                  </a:lnTo>
                  <a:cubicBezTo>
                    <a:pt x="0" y="33447"/>
                    <a:pt x="4796" y="21869"/>
                    <a:pt x="13332" y="13332"/>
                  </a:cubicBezTo>
                  <a:cubicBezTo>
                    <a:pt x="21869" y="4796"/>
                    <a:pt x="33447" y="0"/>
                    <a:pt x="4551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5426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8137" y="5323807"/>
            <a:ext cx="4762279" cy="2797755"/>
            <a:chOff x="0" y="0"/>
            <a:chExt cx="1254263" cy="7368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4263" cy="736857"/>
            </a:xfrm>
            <a:custGeom>
              <a:avLst/>
              <a:gdLst/>
              <a:ahLst/>
              <a:cxnLst/>
              <a:rect r="r" b="b" t="t" l="l"/>
              <a:pathLst>
                <a:path h="736857" w="1254263">
                  <a:moveTo>
                    <a:pt x="45519" y="0"/>
                  </a:moveTo>
                  <a:lnTo>
                    <a:pt x="1208744" y="0"/>
                  </a:lnTo>
                  <a:cubicBezTo>
                    <a:pt x="1220816" y="0"/>
                    <a:pt x="1232394" y="4796"/>
                    <a:pt x="1240931" y="13332"/>
                  </a:cubicBezTo>
                  <a:cubicBezTo>
                    <a:pt x="1249467" y="21869"/>
                    <a:pt x="1254263" y="33447"/>
                    <a:pt x="1254263" y="45519"/>
                  </a:cubicBezTo>
                  <a:lnTo>
                    <a:pt x="1254263" y="691338"/>
                  </a:lnTo>
                  <a:cubicBezTo>
                    <a:pt x="1254263" y="716478"/>
                    <a:pt x="1233883" y="736857"/>
                    <a:pt x="1208744" y="736857"/>
                  </a:cubicBezTo>
                  <a:lnTo>
                    <a:pt x="45519" y="736857"/>
                  </a:lnTo>
                  <a:cubicBezTo>
                    <a:pt x="33447" y="736857"/>
                    <a:pt x="21869" y="732062"/>
                    <a:pt x="13332" y="723525"/>
                  </a:cubicBezTo>
                  <a:cubicBezTo>
                    <a:pt x="4796" y="714989"/>
                    <a:pt x="0" y="703411"/>
                    <a:pt x="0" y="691338"/>
                  </a:cubicBezTo>
                  <a:lnTo>
                    <a:pt x="0" y="45519"/>
                  </a:lnTo>
                  <a:cubicBezTo>
                    <a:pt x="0" y="33447"/>
                    <a:pt x="4796" y="21869"/>
                    <a:pt x="13332" y="13332"/>
                  </a:cubicBezTo>
                  <a:cubicBezTo>
                    <a:pt x="21869" y="4796"/>
                    <a:pt x="33447" y="0"/>
                    <a:pt x="4551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54263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326665" y="2577121"/>
            <a:ext cx="1743308" cy="2165600"/>
          </a:xfrm>
          <a:custGeom>
            <a:avLst/>
            <a:gdLst/>
            <a:ahLst/>
            <a:cxnLst/>
            <a:rect r="r" b="b" t="t" l="l"/>
            <a:pathLst>
              <a:path h="2165600" w="1743308">
                <a:moveTo>
                  <a:pt x="0" y="0"/>
                </a:moveTo>
                <a:lnTo>
                  <a:pt x="1743309" y="0"/>
                </a:lnTo>
                <a:lnTo>
                  <a:pt x="1743309" y="2165601"/>
                </a:lnTo>
                <a:lnTo>
                  <a:pt x="0" y="2165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706124" y="2577121"/>
            <a:ext cx="2419665" cy="2165600"/>
          </a:xfrm>
          <a:custGeom>
            <a:avLst/>
            <a:gdLst/>
            <a:ahLst/>
            <a:cxnLst/>
            <a:rect r="r" b="b" t="t" l="l"/>
            <a:pathLst>
              <a:path h="2165600" w="2419665">
                <a:moveTo>
                  <a:pt x="0" y="0"/>
                </a:moveTo>
                <a:lnTo>
                  <a:pt x="2419665" y="0"/>
                </a:lnTo>
                <a:lnTo>
                  <a:pt x="2419665" y="2165601"/>
                </a:lnTo>
                <a:lnTo>
                  <a:pt x="0" y="2165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64339" y="2573513"/>
            <a:ext cx="1635028" cy="2165600"/>
          </a:xfrm>
          <a:custGeom>
            <a:avLst/>
            <a:gdLst/>
            <a:ahLst/>
            <a:cxnLst/>
            <a:rect r="r" b="b" t="t" l="l"/>
            <a:pathLst>
              <a:path h="2165600" w="1635028">
                <a:moveTo>
                  <a:pt x="0" y="0"/>
                </a:moveTo>
                <a:lnTo>
                  <a:pt x="1635028" y="0"/>
                </a:lnTo>
                <a:lnTo>
                  <a:pt x="1635028" y="2165601"/>
                </a:lnTo>
                <a:lnTo>
                  <a:pt x="0" y="2165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29690" y="5756304"/>
            <a:ext cx="432589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 de Negocio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53010" y="5756304"/>
            <a:ext cx="432589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 Metodologicas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4866" y="6371257"/>
            <a:ext cx="432589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Móvil 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Continua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53010" y="6371257"/>
            <a:ext cx="4325891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Ágil con Scrum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centrado en el Usuario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Aseguramiento de Calidad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Administración de Riesgos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29690" y="6371257"/>
            <a:ext cx="432589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Mercado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 MVP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Negocio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Seguridad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7883" y="2588971"/>
            <a:ext cx="5532986" cy="2797755"/>
            <a:chOff x="0" y="0"/>
            <a:chExt cx="1457247" cy="7368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57247" cy="736857"/>
            </a:xfrm>
            <a:custGeom>
              <a:avLst/>
              <a:gdLst/>
              <a:ahLst/>
              <a:cxnLst/>
              <a:rect r="r" b="b" t="t" l="l"/>
              <a:pathLst>
                <a:path h="736857" w="1457247">
                  <a:moveTo>
                    <a:pt x="39178" y="0"/>
                  </a:moveTo>
                  <a:lnTo>
                    <a:pt x="1418069" y="0"/>
                  </a:lnTo>
                  <a:cubicBezTo>
                    <a:pt x="1428460" y="0"/>
                    <a:pt x="1438425" y="4128"/>
                    <a:pt x="1445772" y="11475"/>
                  </a:cubicBezTo>
                  <a:cubicBezTo>
                    <a:pt x="1453120" y="18822"/>
                    <a:pt x="1457247" y="28788"/>
                    <a:pt x="1457247" y="39178"/>
                  </a:cubicBezTo>
                  <a:lnTo>
                    <a:pt x="1457247" y="697679"/>
                  </a:lnTo>
                  <a:cubicBezTo>
                    <a:pt x="1457247" y="719316"/>
                    <a:pt x="1439707" y="736857"/>
                    <a:pt x="1418069" y="736857"/>
                  </a:cubicBezTo>
                  <a:lnTo>
                    <a:pt x="39178" y="736857"/>
                  </a:lnTo>
                  <a:cubicBezTo>
                    <a:pt x="28788" y="736857"/>
                    <a:pt x="18822" y="732730"/>
                    <a:pt x="11475" y="725382"/>
                  </a:cubicBezTo>
                  <a:cubicBezTo>
                    <a:pt x="4128" y="718035"/>
                    <a:pt x="0" y="708070"/>
                    <a:pt x="0" y="697679"/>
                  </a:cubicBezTo>
                  <a:lnTo>
                    <a:pt x="0" y="39178"/>
                  </a:lnTo>
                  <a:cubicBezTo>
                    <a:pt x="0" y="17541"/>
                    <a:pt x="17541" y="0"/>
                    <a:pt x="391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57247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03854" y="2588971"/>
            <a:ext cx="5519152" cy="2797755"/>
            <a:chOff x="0" y="0"/>
            <a:chExt cx="1453604" cy="7368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3604" cy="736857"/>
            </a:xfrm>
            <a:custGeom>
              <a:avLst/>
              <a:gdLst/>
              <a:ahLst/>
              <a:cxnLst/>
              <a:rect r="r" b="b" t="t" l="l"/>
              <a:pathLst>
                <a:path h="736857" w="1453604">
                  <a:moveTo>
                    <a:pt x="39277" y="0"/>
                  </a:moveTo>
                  <a:lnTo>
                    <a:pt x="1414327" y="0"/>
                  </a:lnTo>
                  <a:cubicBezTo>
                    <a:pt x="1436019" y="0"/>
                    <a:pt x="1453604" y="17585"/>
                    <a:pt x="1453604" y="39277"/>
                  </a:cubicBezTo>
                  <a:lnTo>
                    <a:pt x="1453604" y="697581"/>
                  </a:lnTo>
                  <a:cubicBezTo>
                    <a:pt x="1453604" y="707997"/>
                    <a:pt x="1449466" y="717988"/>
                    <a:pt x="1442100" y="725353"/>
                  </a:cubicBezTo>
                  <a:cubicBezTo>
                    <a:pt x="1434734" y="732719"/>
                    <a:pt x="1424744" y="736857"/>
                    <a:pt x="1414327" y="736857"/>
                  </a:cubicBezTo>
                  <a:lnTo>
                    <a:pt x="39277" y="736857"/>
                  </a:lnTo>
                  <a:cubicBezTo>
                    <a:pt x="28860" y="736857"/>
                    <a:pt x="18870" y="732719"/>
                    <a:pt x="11504" y="725353"/>
                  </a:cubicBezTo>
                  <a:cubicBezTo>
                    <a:pt x="4138" y="717988"/>
                    <a:pt x="0" y="707997"/>
                    <a:pt x="0" y="697581"/>
                  </a:cubicBezTo>
                  <a:lnTo>
                    <a:pt x="0" y="39277"/>
                  </a:lnTo>
                  <a:cubicBezTo>
                    <a:pt x="0" y="17585"/>
                    <a:pt x="17585" y="0"/>
                    <a:pt x="3927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53604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70868" y="6255477"/>
            <a:ext cx="5532986" cy="2797755"/>
            <a:chOff x="0" y="0"/>
            <a:chExt cx="1457247" cy="7368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7247" cy="736857"/>
            </a:xfrm>
            <a:custGeom>
              <a:avLst/>
              <a:gdLst/>
              <a:ahLst/>
              <a:cxnLst/>
              <a:rect r="r" b="b" t="t" l="l"/>
              <a:pathLst>
                <a:path h="736857" w="1457247">
                  <a:moveTo>
                    <a:pt x="39178" y="0"/>
                  </a:moveTo>
                  <a:lnTo>
                    <a:pt x="1418069" y="0"/>
                  </a:lnTo>
                  <a:cubicBezTo>
                    <a:pt x="1428460" y="0"/>
                    <a:pt x="1438425" y="4128"/>
                    <a:pt x="1445772" y="11475"/>
                  </a:cubicBezTo>
                  <a:cubicBezTo>
                    <a:pt x="1453120" y="18822"/>
                    <a:pt x="1457247" y="28788"/>
                    <a:pt x="1457247" y="39178"/>
                  </a:cubicBezTo>
                  <a:lnTo>
                    <a:pt x="1457247" y="697679"/>
                  </a:lnTo>
                  <a:cubicBezTo>
                    <a:pt x="1457247" y="719316"/>
                    <a:pt x="1439707" y="736857"/>
                    <a:pt x="1418069" y="736857"/>
                  </a:cubicBezTo>
                  <a:lnTo>
                    <a:pt x="39178" y="736857"/>
                  </a:lnTo>
                  <a:cubicBezTo>
                    <a:pt x="28788" y="736857"/>
                    <a:pt x="18822" y="732730"/>
                    <a:pt x="11475" y="725382"/>
                  </a:cubicBezTo>
                  <a:cubicBezTo>
                    <a:pt x="4128" y="718035"/>
                    <a:pt x="0" y="708070"/>
                    <a:pt x="0" y="697679"/>
                  </a:cubicBezTo>
                  <a:lnTo>
                    <a:pt x="0" y="39178"/>
                  </a:lnTo>
                  <a:cubicBezTo>
                    <a:pt x="0" y="17541"/>
                    <a:pt x="17541" y="0"/>
                    <a:pt x="3917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57247" cy="78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405100" y="2635225"/>
            <a:ext cx="2697701" cy="2781135"/>
          </a:xfrm>
          <a:custGeom>
            <a:avLst/>
            <a:gdLst/>
            <a:ahLst/>
            <a:cxnLst/>
            <a:rect r="r" b="b" t="t" l="l"/>
            <a:pathLst>
              <a:path h="2781135" w="2697701">
                <a:moveTo>
                  <a:pt x="0" y="0"/>
                </a:moveTo>
                <a:lnTo>
                  <a:pt x="2697701" y="0"/>
                </a:lnTo>
                <a:lnTo>
                  <a:pt x="2697701" y="2781135"/>
                </a:lnTo>
                <a:lnTo>
                  <a:pt x="0" y="27811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4704" y="2933646"/>
            <a:ext cx="519934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Seguridad de la información y Privacidad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7032" y="2933646"/>
            <a:ext cx="519934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Seguridad de Datos funcionales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37690" y="6682291"/>
            <a:ext cx="519934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Seguridad de Infraestructura y Código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1526" y="3457150"/>
            <a:ext cx="519934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Anonimización de locación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Purga diaria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44329" y="7271450"/>
            <a:ext cx="519934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Autentificación de APIs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Segura de API Keys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Rate Limiting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71887" y="3457150"/>
            <a:ext cx="519934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Validación por Geofencing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de Velocidad y Movimiento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 de Reputación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5" id="5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-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0929" y="547772"/>
            <a:ext cx="14395087" cy="8923657"/>
          </a:xfrm>
          <a:custGeom>
            <a:avLst/>
            <a:gdLst/>
            <a:ahLst/>
            <a:cxnLst/>
            <a:rect r="r" b="b" t="t" l="l"/>
            <a:pathLst>
              <a:path h="8923657" w="14395087">
                <a:moveTo>
                  <a:pt x="0" y="0"/>
                </a:moveTo>
                <a:lnTo>
                  <a:pt x="14395088" y="0"/>
                </a:lnTo>
                <a:lnTo>
                  <a:pt x="14395088" y="8923657"/>
                </a:lnTo>
                <a:lnTo>
                  <a:pt x="0" y="8923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9" r="0" b="-25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443390" y="2320505"/>
            <a:ext cx="394185" cy="3941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480355" y="2363927"/>
            <a:ext cx="320255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algn="ctr">
              <a:lnSpc>
                <a:spcPts val="196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554219" y="2320505"/>
            <a:ext cx="394185" cy="39418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16024" y="4812508"/>
            <a:ext cx="394185" cy="39418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16024" y="2320505"/>
            <a:ext cx="394185" cy="39418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480355" y="7430853"/>
            <a:ext cx="394185" cy="39418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60149" y="4812508"/>
            <a:ext cx="394185" cy="3941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97115" y="2320505"/>
            <a:ext cx="394185" cy="39418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39219" y="2320505"/>
            <a:ext cx="394185" cy="39418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33089" y="7496407"/>
            <a:ext cx="394185" cy="39418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517320" y="7448782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52989" y="4866005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52989" y="2363927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91184" y="2363927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34080" y="2363927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7115" y="4866005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76184" y="2363927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70054" y="7547543"/>
            <a:ext cx="320255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Riesgos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22313" y="9044918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279220" y="2700151"/>
            <a:ext cx="1900634" cy="1558520"/>
          </a:xfrm>
          <a:custGeom>
            <a:avLst/>
            <a:gdLst/>
            <a:ahLst/>
            <a:cxnLst/>
            <a:rect r="r" b="b" t="t" l="l"/>
            <a:pathLst>
              <a:path h="1558520" w="1900634">
                <a:moveTo>
                  <a:pt x="0" y="0"/>
                </a:moveTo>
                <a:lnTo>
                  <a:pt x="1900634" y="0"/>
                </a:lnTo>
                <a:lnTo>
                  <a:pt x="1900634" y="1558519"/>
                </a:lnTo>
                <a:lnTo>
                  <a:pt x="0" y="1558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95222" y="2421764"/>
            <a:ext cx="2115292" cy="2115292"/>
          </a:xfrm>
          <a:custGeom>
            <a:avLst/>
            <a:gdLst/>
            <a:ahLst/>
            <a:cxnLst/>
            <a:rect r="r" b="b" t="t" l="l"/>
            <a:pathLst>
              <a:path h="2115292" w="2115292">
                <a:moveTo>
                  <a:pt x="0" y="0"/>
                </a:moveTo>
                <a:lnTo>
                  <a:pt x="2115293" y="0"/>
                </a:lnTo>
                <a:lnTo>
                  <a:pt x="2115293" y="2115293"/>
                </a:lnTo>
                <a:lnTo>
                  <a:pt x="0" y="21152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688649"/>
            <a:ext cx="6401674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Internos</a:t>
            </a:r>
          </a:p>
          <a:p>
            <a:pPr algn="ctr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Atrasos en el proyecto debido a la práctica o posible baja de un integrante por fuerza mayor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Desviación del alcance inicial dentro de los ciclos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 en el desarrollo del backend y falta de datos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Ingreso de reportes falsos al sistema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46437" y="4761388"/>
            <a:ext cx="8012863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Externos</a:t>
            </a:r>
          </a:p>
          <a:p>
            <a:pPr algn="ctr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Poco uso de la plataforma durante el lanzamiento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Reacción de los competidores actuales del mercado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Inestabilidad de la red móvil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librerías o APIs obsoletas</a:t>
            </a:r>
          </a:p>
          <a:p>
            <a:pPr algn="l">
              <a:lnSpc>
                <a:spcPts val="2520"/>
              </a:lnSpc>
            </a:pP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Riesgos legales, como el robo de datos analizados o una mala adaptación a la ley de protección de datos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3413554" y="4577858"/>
            <a:ext cx="1631966" cy="565642"/>
            <a:chOff x="0" y="0"/>
            <a:chExt cx="429818" cy="1489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9818" cy="148976"/>
            </a:xfrm>
            <a:custGeom>
              <a:avLst/>
              <a:gdLst/>
              <a:ahLst/>
              <a:cxnLst/>
              <a:rect r="r" b="b" t="t" l="l"/>
              <a:pathLst>
                <a:path h="148976" w="429818">
                  <a:moveTo>
                    <a:pt x="74488" y="0"/>
                  </a:moveTo>
                  <a:lnTo>
                    <a:pt x="355330" y="0"/>
                  </a:lnTo>
                  <a:cubicBezTo>
                    <a:pt x="396469" y="0"/>
                    <a:pt x="429818" y="33349"/>
                    <a:pt x="429818" y="74488"/>
                  </a:cubicBezTo>
                  <a:lnTo>
                    <a:pt x="429818" y="74488"/>
                  </a:lnTo>
                  <a:cubicBezTo>
                    <a:pt x="429818" y="115626"/>
                    <a:pt x="396469" y="148976"/>
                    <a:pt x="355330" y="148976"/>
                  </a:cubicBezTo>
                  <a:lnTo>
                    <a:pt x="74488" y="148976"/>
                  </a:lnTo>
                  <a:cubicBezTo>
                    <a:pt x="33349" y="148976"/>
                    <a:pt x="0" y="115626"/>
                    <a:pt x="0" y="74488"/>
                  </a:cubicBezTo>
                  <a:lnTo>
                    <a:pt x="0" y="74488"/>
                  </a:lnTo>
                  <a:cubicBezTo>
                    <a:pt x="0" y="33349"/>
                    <a:pt x="33349" y="0"/>
                    <a:pt x="7448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29818" cy="19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36885" y="4608741"/>
            <a:ext cx="1631966" cy="565642"/>
            <a:chOff x="0" y="0"/>
            <a:chExt cx="429818" cy="1489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9818" cy="148976"/>
            </a:xfrm>
            <a:custGeom>
              <a:avLst/>
              <a:gdLst/>
              <a:ahLst/>
              <a:cxnLst/>
              <a:rect r="r" b="b" t="t" l="l"/>
              <a:pathLst>
                <a:path h="148976" w="429818">
                  <a:moveTo>
                    <a:pt x="74488" y="0"/>
                  </a:moveTo>
                  <a:lnTo>
                    <a:pt x="355330" y="0"/>
                  </a:lnTo>
                  <a:cubicBezTo>
                    <a:pt x="396469" y="0"/>
                    <a:pt x="429818" y="33349"/>
                    <a:pt x="429818" y="74488"/>
                  </a:cubicBezTo>
                  <a:lnTo>
                    <a:pt x="429818" y="74488"/>
                  </a:lnTo>
                  <a:cubicBezTo>
                    <a:pt x="429818" y="115626"/>
                    <a:pt x="396469" y="148976"/>
                    <a:pt x="355330" y="148976"/>
                  </a:cubicBezTo>
                  <a:lnTo>
                    <a:pt x="74488" y="148976"/>
                  </a:lnTo>
                  <a:cubicBezTo>
                    <a:pt x="33349" y="148976"/>
                    <a:pt x="0" y="115626"/>
                    <a:pt x="0" y="74488"/>
                  </a:cubicBezTo>
                  <a:lnTo>
                    <a:pt x="0" y="74488"/>
                  </a:lnTo>
                  <a:cubicBezTo>
                    <a:pt x="0" y="33349"/>
                    <a:pt x="33349" y="0"/>
                    <a:pt x="7448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29818" cy="19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584513" y="1988820"/>
            <a:ext cx="206050" cy="6868318"/>
          </a:xfrm>
          <a:custGeom>
            <a:avLst/>
            <a:gdLst/>
            <a:ahLst/>
            <a:cxnLst/>
            <a:rect r="r" b="b" t="t" l="l"/>
            <a:pathLst>
              <a:path h="6868318" w="206050">
                <a:moveTo>
                  <a:pt x="0" y="0"/>
                </a:moveTo>
                <a:lnTo>
                  <a:pt x="206050" y="0"/>
                </a:lnTo>
                <a:lnTo>
                  <a:pt x="206050" y="6868318"/>
                </a:lnTo>
                <a:lnTo>
                  <a:pt x="0" y="68683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17220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Mapa Tecnológico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5423" y="5532538"/>
            <a:ext cx="2937181" cy="2610718"/>
            <a:chOff x="0" y="0"/>
            <a:chExt cx="773579" cy="6875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3579" cy="687596"/>
            </a:xfrm>
            <a:custGeom>
              <a:avLst/>
              <a:gdLst/>
              <a:ahLst/>
              <a:cxnLst/>
              <a:rect r="r" b="b" t="t" l="l"/>
              <a:pathLst>
                <a:path h="687596" w="773579">
                  <a:moveTo>
                    <a:pt x="73803" y="0"/>
                  </a:moveTo>
                  <a:lnTo>
                    <a:pt x="699775" y="0"/>
                  </a:lnTo>
                  <a:cubicBezTo>
                    <a:pt x="740536" y="0"/>
                    <a:pt x="773579" y="33043"/>
                    <a:pt x="773579" y="73803"/>
                  </a:cubicBezTo>
                  <a:lnTo>
                    <a:pt x="773579" y="613793"/>
                  </a:lnTo>
                  <a:cubicBezTo>
                    <a:pt x="773579" y="654554"/>
                    <a:pt x="740536" y="687596"/>
                    <a:pt x="699775" y="687596"/>
                  </a:cubicBezTo>
                  <a:lnTo>
                    <a:pt x="73803" y="687596"/>
                  </a:lnTo>
                  <a:cubicBezTo>
                    <a:pt x="33043" y="687596"/>
                    <a:pt x="0" y="654554"/>
                    <a:pt x="0" y="613793"/>
                  </a:cubicBezTo>
                  <a:lnTo>
                    <a:pt x="0" y="73803"/>
                  </a:lnTo>
                  <a:cubicBezTo>
                    <a:pt x="0" y="33043"/>
                    <a:pt x="33043" y="0"/>
                    <a:pt x="7380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73579" cy="73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397113" y="5532538"/>
            <a:ext cx="3230914" cy="2610718"/>
            <a:chOff x="0" y="0"/>
            <a:chExt cx="850940" cy="6875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940" cy="687596"/>
            </a:xfrm>
            <a:custGeom>
              <a:avLst/>
              <a:gdLst/>
              <a:ahLst/>
              <a:cxnLst/>
              <a:rect r="r" b="b" t="t" l="l"/>
              <a:pathLst>
                <a:path h="687596" w="850940">
                  <a:moveTo>
                    <a:pt x="67094" y="0"/>
                  </a:moveTo>
                  <a:lnTo>
                    <a:pt x="783847" y="0"/>
                  </a:lnTo>
                  <a:cubicBezTo>
                    <a:pt x="801641" y="0"/>
                    <a:pt x="818707" y="7069"/>
                    <a:pt x="831289" y="19651"/>
                  </a:cubicBezTo>
                  <a:cubicBezTo>
                    <a:pt x="843872" y="32234"/>
                    <a:pt x="850940" y="49299"/>
                    <a:pt x="850940" y="67094"/>
                  </a:cubicBezTo>
                  <a:lnTo>
                    <a:pt x="850940" y="620503"/>
                  </a:lnTo>
                  <a:cubicBezTo>
                    <a:pt x="850940" y="638297"/>
                    <a:pt x="843872" y="655363"/>
                    <a:pt x="831289" y="667945"/>
                  </a:cubicBezTo>
                  <a:cubicBezTo>
                    <a:pt x="818707" y="680528"/>
                    <a:pt x="801641" y="687596"/>
                    <a:pt x="783847" y="687596"/>
                  </a:cubicBezTo>
                  <a:lnTo>
                    <a:pt x="67094" y="687596"/>
                  </a:lnTo>
                  <a:cubicBezTo>
                    <a:pt x="49299" y="687596"/>
                    <a:pt x="32234" y="680528"/>
                    <a:pt x="19651" y="667945"/>
                  </a:cubicBezTo>
                  <a:cubicBezTo>
                    <a:pt x="7069" y="655363"/>
                    <a:pt x="0" y="638297"/>
                    <a:pt x="0" y="620503"/>
                  </a:cubicBezTo>
                  <a:lnTo>
                    <a:pt x="0" y="67094"/>
                  </a:lnTo>
                  <a:cubicBezTo>
                    <a:pt x="0" y="49299"/>
                    <a:pt x="7069" y="32234"/>
                    <a:pt x="19651" y="19651"/>
                  </a:cubicBezTo>
                  <a:cubicBezTo>
                    <a:pt x="32234" y="7069"/>
                    <a:pt x="49299" y="0"/>
                    <a:pt x="6709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50940" cy="73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04303" y="5532538"/>
            <a:ext cx="3137395" cy="2610718"/>
            <a:chOff x="0" y="0"/>
            <a:chExt cx="826310" cy="6875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6310" cy="687596"/>
            </a:xfrm>
            <a:custGeom>
              <a:avLst/>
              <a:gdLst/>
              <a:ahLst/>
              <a:cxnLst/>
              <a:rect r="r" b="b" t="t" l="l"/>
              <a:pathLst>
                <a:path h="687596" w="826310">
                  <a:moveTo>
                    <a:pt x="69094" y="0"/>
                  </a:moveTo>
                  <a:lnTo>
                    <a:pt x="757216" y="0"/>
                  </a:lnTo>
                  <a:cubicBezTo>
                    <a:pt x="795376" y="0"/>
                    <a:pt x="826310" y="30934"/>
                    <a:pt x="826310" y="69094"/>
                  </a:cubicBezTo>
                  <a:lnTo>
                    <a:pt x="826310" y="618503"/>
                  </a:lnTo>
                  <a:cubicBezTo>
                    <a:pt x="826310" y="656662"/>
                    <a:pt x="795376" y="687596"/>
                    <a:pt x="757216" y="687596"/>
                  </a:cubicBezTo>
                  <a:lnTo>
                    <a:pt x="69094" y="687596"/>
                  </a:lnTo>
                  <a:cubicBezTo>
                    <a:pt x="30934" y="687596"/>
                    <a:pt x="0" y="656662"/>
                    <a:pt x="0" y="618503"/>
                  </a:cubicBezTo>
                  <a:lnTo>
                    <a:pt x="0" y="69094"/>
                  </a:lnTo>
                  <a:cubicBezTo>
                    <a:pt x="0" y="30934"/>
                    <a:pt x="30934" y="0"/>
                    <a:pt x="6909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26310" cy="73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117973" y="5702517"/>
            <a:ext cx="3793231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Infraestructura y DevOp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 Notifications (Firebase):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Alertas Push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232273" y="5532538"/>
            <a:ext cx="3636161" cy="2610718"/>
            <a:chOff x="0" y="0"/>
            <a:chExt cx="957672" cy="6875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7672" cy="687596"/>
            </a:xfrm>
            <a:custGeom>
              <a:avLst/>
              <a:gdLst/>
              <a:ahLst/>
              <a:cxnLst/>
              <a:rect r="r" b="b" t="t" l="l"/>
              <a:pathLst>
                <a:path h="687596" w="957672">
                  <a:moveTo>
                    <a:pt x="59616" y="0"/>
                  </a:moveTo>
                  <a:lnTo>
                    <a:pt x="898056" y="0"/>
                  </a:lnTo>
                  <a:cubicBezTo>
                    <a:pt x="930981" y="0"/>
                    <a:pt x="957672" y="26691"/>
                    <a:pt x="957672" y="59616"/>
                  </a:cubicBezTo>
                  <a:lnTo>
                    <a:pt x="957672" y="627980"/>
                  </a:lnTo>
                  <a:cubicBezTo>
                    <a:pt x="957672" y="660905"/>
                    <a:pt x="930981" y="687596"/>
                    <a:pt x="898056" y="687596"/>
                  </a:cubicBezTo>
                  <a:lnTo>
                    <a:pt x="59616" y="687596"/>
                  </a:lnTo>
                  <a:cubicBezTo>
                    <a:pt x="26691" y="687596"/>
                    <a:pt x="0" y="660905"/>
                    <a:pt x="0" y="627980"/>
                  </a:cubicBezTo>
                  <a:lnTo>
                    <a:pt x="0" y="59616"/>
                  </a:lnTo>
                  <a:cubicBezTo>
                    <a:pt x="0" y="26691"/>
                    <a:pt x="26691" y="0"/>
                    <a:pt x="5961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57672" cy="735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859619" y="3470448"/>
            <a:ext cx="2303262" cy="1704414"/>
          </a:xfrm>
          <a:custGeom>
            <a:avLst/>
            <a:gdLst/>
            <a:ahLst/>
            <a:cxnLst/>
            <a:rect r="r" b="b" t="t" l="l"/>
            <a:pathLst>
              <a:path h="1704414" w="2303262">
                <a:moveTo>
                  <a:pt x="0" y="0"/>
                </a:moveTo>
                <a:lnTo>
                  <a:pt x="2303262" y="0"/>
                </a:lnTo>
                <a:lnTo>
                  <a:pt x="2303262" y="1704414"/>
                </a:lnTo>
                <a:lnTo>
                  <a:pt x="0" y="170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03358" y="3202210"/>
            <a:ext cx="2018425" cy="2018425"/>
          </a:xfrm>
          <a:custGeom>
            <a:avLst/>
            <a:gdLst/>
            <a:ahLst/>
            <a:cxnLst/>
            <a:rect r="r" b="b" t="t" l="l"/>
            <a:pathLst>
              <a:path h="2018425" w="2018425">
                <a:moveTo>
                  <a:pt x="0" y="0"/>
                </a:moveTo>
                <a:lnTo>
                  <a:pt x="2018425" y="0"/>
                </a:lnTo>
                <a:lnTo>
                  <a:pt x="2018425" y="2018424"/>
                </a:lnTo>
                <a:lnTo>
                  <a:pt x="0" y="20184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059143" y="3470448"/>
            <a:ext cx="1627715" cy="1704414"/>
          </a:xfrm>
          <a:custGeom>
            <a:avLst/>
            <a:gdLst/>
            <a:ahLst/>
            <a:cxnLst/>
            <a:rect r="r" b="b" t="t" l="l"/>
            <a:pathLst>
              <a:path h="1704414" w="1627715">
                <a:moveTo>
                  <a:pt x="0" y="0"/>
                </a:moveTo>
                <a:lnTo>
                  <a:pt x="1627715" y="0"/>
                </a:lnTo>
                <a:lnTo>
                  <a:pt x="1627715" y="1704414"/>
                </a:lnTo>
                <a:lnTo>
                  <a:pt x="0" y="1704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064489" y="3534073"/>
            <a:ext cx="1900198" cy="1577165"/>
          </a:xfrm>
          <a:custGeom>
            <a:avLst/>
            <a:gdLst/>
            <a:ahLst/>
            <a:cxnLst/>
            <a:rect r="r" b="b" t="t" l="l"/>
            <a:pathLst>
              <a:path h="1577165" w="1900198">
                <a:moveTo>
                  <a:pt x="0" y="0"/>
                </a:moveTo>
                <a:lnTo>
                  <a:pt x="1900198" y="0"/>
                </a:lnTo>
                <a:lnTo>
                  <a:pt x="1900198" y="1577165"/>
                </a:lnTo>
                <a:lnTo>
                  <a:pt x="0" y="15771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309318" y="5702517"/>
            <a:ext cx="3199745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 + NestJs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Seguridad: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Web Tokens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98415" y="5702517"/>
            <a:ext cx="2825671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Native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 Framework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Native Maps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 Location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60165" y="5737499"/>
            <a:ext cx="282567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PostGIS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Arquitectura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046358" y="2996966"/>
            <a:ext cx="5655877" cy="5457921"/>
          </a:xfrm>
          <a:custGeom>
            <a:avLst/>
            <a:gdLst/>
            <a:ahLst/>
            <a:cxnLst/>
            <a:rect r="r" b="b" t="t" l="l"/>
            <a:pathLst>
              <a:path h="5457921" w="5655877">
                <a:moveTo>
                  <a:pt x="0" y="0"/>
                </a:moveTo>
                <a:lnTo>
                  <a:pt x="5655877" y="0"/>
                </a:lnTo>
                <a:lnTo>
                  <a:pt x="5655877" y="5457921"/>
                </a:lnTo>
                <a:lnTo>
                  <a:pt x="0" y="5457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030629" y="2075425"/>
            <a:ext cx="31997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 3 capas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291727"/>
            <a:ext cx="5282524" cy="27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174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Capa de Negocio</a:t>
            </a:r>
          </a:p>
          <a:p>
            <a:pPr algn="l" marL="377094" indent="-188547" lvl="1">
              <a:lnSpc>
                <a:spcPts val="2445"/>
              </a:lnSpc>
              <a:buFont typeface="Arial"/>
              <a:buChar char="•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Servidor REST en Node.JS / NestJS</a:t>
            </a:r>
          </a:p>
          <a:p>
            <a:pPr algn="l" marL="377094" indent="-188547" lvl="1">
              <a:lnSpc>
                <a:spcPts val="2445"/>
              </a:lnSpc>
              <a:buFont typeface="Arial"/>
              <a:buChar char="•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“Cerebro” del sistema que procesa:</a:t>
            </a:r>
          </a:p>
          <a:p>
            <a:pPr algn="l" marL="754188" indent="-251396" lvl="2">
              <a:lnSpc>
                <a:spcPts val="2445"/>
              </a:lnSpc>
              <a:buFont typeface="Arial"/>
              <a:buChar char="⚬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 de negocio</a:t>
            </a:r>
          </a:p>
          <a:p>
            <a:pPr algn="l" marL="754188" indent="-251396" lvl="2">
              <a:lnSpc>
                <a:spcPts val="2445"/>
              </a:lnSpc>
              <a:buFont typeface="Arial"/>
              <a:buChar char="⚬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 la sesión de usuario</a:t>
            </a:r>
          </a:p>
          <a:p>
            <a:pPr algn="l" marL="754188" indent="-251396" lvl="2">
              <a:lnSpc>
                <a:spcPts val="2445"/>
              </a:lnSpc>
              <a:buFont typeface="Arial"/>
              <a:buChar char="⚬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Algoritmo Geofecing:</a:t>
            </a:r>
          </a:p>
          <a:p>
            <a:pPr algn="l" marL="1131283" indent="-282821" lvl="3">
              <a:lnSpc>
                <a:spcPts val="2445"/>
              </a:lnSpc>
              <a:buFont typeface="Arial"/>
              <a:buChar char="￭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 alertas </a:t>
            </a:r>
          </a:p>
          <a:p>
            <a:pPr algn="l" marL="754188" indent="-251396" lvl="2">
              <a:lnSpc>
                <a:spcPts val="2445"/>
              </a:lnSpc>
              <a:buFont typeface="Arial"/>
              <a:buChar char="⚬"/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Actualizar el score de perfiles</a:t>
            </a:r>
          </a:p>
          <a:p>
            <a:pPr algn="l">
              <a:lnSpc>
                <a:spcPts val="244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202577"/>
            <a:ext cx="5522292" cy="214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174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Capa de presentacion</a:t>
            </a:r>
          </a:p>
          <a:p>
            <a:pPr algn="l" marL="377824" indent="-188912" lvl="1">
              <a:lnSpc>
                <a:spcPts val="244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 móvil desarollada en React Native / TypeScrip</a:t>
            </a:r>
          </a:p>
          <a:p>
            <a:pPr algn="l" marL="377824" indent="-188912" lvl="1">
              <a:lnSpc>
                <a:spcPts val="2449"/>
              </a:lnSpc>
              <a:buFont typeface="Arial"/>
              <a:buChar char="•"/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Interdaz de usuario:</a:t>
            </a:r>
          </a:p>
          <a:p>
            <a:pPr algn="l" marL="755649" indent="-251883" lvl="2">
              <a:lnSpc>
                <a:spcPts val="2449"/>
              </a:lnSpc>
              <a:buFont typeface="Arial"/>
              <a:buChar char="⚬"/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Renderiza mapa</a:t>
            </a:r>
          </a:p>
          <a:p>
            <a:pPr algn="l" marL="755649" indent="-251883" lvl="2">
              <a:lnSpc>
                <a:spcPts val="2449"/>
              </a:lnSpc>
              <a:buFont typeface="Arial"/>
              <a:buChar char="⚬"/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Captura interacciones</a:t>
            </a:r>
          </a:p>
          <a:p>
            <a:pPr algn="l" marL="755649" indent="-251883" lvl="2">
              <a:lnSpc>
                <a:spcPts val="2449"/>
              </a:lnSpc>
              <a:buFont typeface="Arial"/>
              <a:buChar char="⚬"/>
            </a:pPr>
            <a:r>
              <a:rPr lang="en-US" sz="17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 permisos de GPS</a:t>
            </a:r>
          </a:p>
          <a:p>
            <a:pPr algn="l">
              <a:lnSpc>
                <a:spcPts val="24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046358" y="2496976"/>
            <a:ext cx="536233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Facilitar pruebas unitarias + Escalibilidad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4656" y="7096455"/>
            <a:ext cx="5441920" cy="266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69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Capa de Datos</a:t>
            </a:r>
          </a:p>
          <a:p>
            <a:pPr algn="l" marL="366305" indent="-183153" lvl="1">
              <a:lnSpc>
                <a:spcPts val="2375"/>
              </a:lnSpc>
              <a:buFont typeface="Arial"/>
              <a:buChar char="•"/>
            </a:pPr>
            <a:r>
              <a:rPr lang="en-US" sz="1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 relacional PostgreSQL con PostGis</a:t>
            </a:r>
          </a:p>
          <a:p>
            <a:pPr algn="l" marL="366305" indent="-183153" lvl="1">
              <a:lnSpc>
                <a:spcPts val="2375"/>
              </a:lnSpc>
              <a:buFont typeface="Arial"/>
              <a:buChar char="•"/>
            </a:pPr>
            <a:r>
              <a:rPr lang="en-US" sz="1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Almacenamiento persistente y consulta de informacion GPS:</a:t>
            </a:r>
          </a:p>
          <a:p>
            <a:pPr algn="l" marL="732610" indent="-244203" lvl="2">
              <a:lnSpc>
                <a:spcPts val="2375"/>
              </a:lnSpc>
              <a:buFont typeface="Arial"/>
              <a:buChar char="⚬"/>
            </a:pPr>
            <a:r>
              <a:rPr lang="en-US" sz="1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Rutas trazadas </a:t>
            </a:r>
          </a:p>
          <a:p>
            <a:pPr algn="l" marL="732610" indent="-244203" lvl="2">
              <a:lnSpc>
                <a:spcPts val="2375"/>
              </a:lnSpc>
              <a:buFont typeface="Arial"/>
              <a:buChar char="⚬"/>
            </a:pPr>
            <a:r>
              <a:rPr lang="en-US" sz="1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usuario</a:t>
            </a:r>
          </a:p>
          <a:p>
            <a:pPr algn="l" marL="732610" indent="-244203" lvl="2">
              <a:lnSpc>
                <a:spcPts val="2375"/>
              </a:lnSpc>
              <a:buFont typeface="Arial"/>
              <a:buChar char="⚬"/>
            </a:pPr>
            <a:r>
              <a:rPr lang="en-US" sz="16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Coordenadas de alertas activas</a:t>
            </a:r>
          </a:p>
          <a:p>
            <a:pPr algn="l">
              <a:lnSpc>
                <a:spcPts val="2375"/>
              </a:lnSpc>
            </a:pP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AutoShape 23" id="23"/>
          <p:cNvSpPr/>
          <p:nvPr/>
        </p:nvSpPr>
        <p:spPr>
          <a:xfrm flipH="true">
            <a:off x="6406576" y="5716504"/>
            <a:ext cx="3542434" cy="188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H="true">
            <a:off x="6602553" y="8435837"/>
            <a:ext cx="34819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H="true">
            <a:off x="10065408" y="7567225"/>
            <a:ext cx="0" cy="9914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6564453" y="3323352"/>
            <a:ext cx="34819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10046358" y="3304302"/>
            <a:ext cx="0" cy="7054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Mockup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19590" y="2532252"/>
            <a:ext cx="3242931" cy="6177979"/>
          </a:xfrm>
          <a:custGeom>
            <a:avLst/>
            <a:gdLst/>
            <a:ahLst/>
            <a:cxnLst/>
            <a:rect r="r" b="b" t="t" l="l"/>
            <a:pathLst>
              <a:path h="6177979" w="3242931">
                <a:moveTo>
                  <a:pt x="0" y="0"/>
                </a:moveTo>
                <a:lnTo>
                  <a:pt x="3242930" y="0"/>
                </a:lnTo>
                <a:lnTo>
                  <a:pt x="3242930" y="6177979"/>
                </a:lnTo>
                <a:lnTo>
                  <a:pt x="0" y="6177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0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76087" y="2487028"/>
            <a:ext cx="2787822" cy="6268426"/>
          </a:xfrm>
          <a:custGeom>
            <a:avLst/>
            <a:gdLst/>
            <a:ahLst/>
            <a:cxnLst/>
            <a:rect r="r" b="b" t="t" l="l"/>
            <a:pathLst>
              <a:path h="6268426" w="2787822">
                <a:moveTo>
                  <a:pt x="0" y="0"/>
                </a:moveTo>
                <a:lnTo>
                  <a:pt x="2787822" y="0"/>
                </a:lnTo>
                <a:lnTo>
                  <a:pt x="2787822" y="6268426"/>
                </a:lnTo>
                <a:lnTo>
                  <a:pt x="0" y="62684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719770" y="2623344"/>
            <a:ext cx="2419222" cy="6132110"/>
          </a:xfrm>
          <a:custGeom>
            <a:avLst/>
            <a:gdLst/>
            <a:ahLst/>
            <a:cxnLst/>
            <a:rect r="r" b="b" t="t" l="l"/>
            <a:pathLst>
              <a:path h="6132110" w="2419222">
                <a:moveTo>
                  <a:pt x="0" y="0"/>
                </a:moveTo>
                <a:lnTo>
                  <a:pt x="2419222" y="0"/>
                </a:lnTo>
                <a:lnTo>
                  <a:pt x="2419222" y="6132110"/>
                </a:lnTo>
                <a:lnTo>
                  <a:pt x="0" y="6132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4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56759" y="2858133"/>
            <a:ext cx="800976" cy="907417"/>
          </a:xfrm>
          <a:custGeom>
            <a:avLst/>
            <a:gdLst/>
            <a:ahLst/>
            <a:cxnLst/>
            <a:rect r="r" b="b" t="t" l="l"/>
            <a:pathLst>
              <a:path h="907417" w="800976">
                <a:moveTo>
                  <a:pt x="0" y="0"/>
                </a:moveTo>
                <a:lnTo>
                  <a:pt x="800976" y="0"/>
                </a:lnTo>
                <a:lnTo>
                  <a:pt x="800976" y="907418"/>
                </a:lnTo>
                <a:lnTo>
                  <a:pt x="0" y="9074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27600" y="2532340"/>
            <a:ext cx="318564" cy="360898"/>
          </a:xfrm>
          <a:custGeom>
            <a:avLst/>
            <a:gdLst/>
            <a:ahLst/>
            <a:cxnLst/>
            <a:rect r="r" b="b" t="t" l="l"/>
            <a:pathLst>
              <a:path h="360898" w="318564">
                <a:moveTo>
                  <a:pt x="0" y="0"/>
                </a:moveTo>
                <a:lnTo>
                  <a:pt x="318564" y="0"/>
                </a:lnTo>
                <a:lnTo>
                  <a:pt x="318564" y="360899"/>
                </a:lnTo>
                <a:lnTo>
                  <a:pt x="0" y="3608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747661" y="2684814"/>
            <a:ext cx="289162" cy="327589"/>
          </a:xfrm>
          <a:custGeom>
            <a:avLst/>
            <a:gdLst/>
            <a:ahLst/>
            <a:cxnLst/>
            <a:rect r="r" b="b" t="t" l="l"/>
            <a:pathLst>
              <a:path h="327589" w="289162">
                <a:moveTo>
                  <a:pt x="0" y="0"/>
                </a:moveTo>
                <a:lnTo>
                  <a:pt x="289162" y="0"/>
                </a:lnTo>
                <a:lnTo>
                  <a:pt x="289162" y="327589"/>
                </a:lnTo>
                <a:lnTo>
                  <a:pt x="0" y="3275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341017" y="3765551"/>
            <a:ext cx="1795880" cy="2034535"/>
          </a:xfrm>
          <a:custGeom>
            <a:avLst/>
            <a:gdLst/>
            <a:ahLst/>
            <a:cxnLst/>
            <a:rect r="r" b="b" t="t" l="l"/>
            <a:pathLst>
              <a:path h="2034535" w="1795880">
                <a:moveTo>
                  <a:pt x="0" y="0"/>
                </a:moveTo>
                <a:lnTo>
                  <a:pt x="1795880" y="0"/>
                </a:lnTo>
                <a:lnTo>
                  <a:pt x="1795880" y="2034534"/>
                </a:lnTo>
                <a:lnTo>
                  <a:pt x="0" y="20345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4500" y="4022348"/>
            <a:ext cx="84174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62010" y="1923183"/>
            <a:ext cx="241597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Inicio app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42520" y="1910715"/>
            <a:ext cx="282945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Login/Register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6897" y="1923183"/>
            <a:ext cx="282945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Reportes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5074920" cy="1234440"/>
            <a:chOff x="0" y="0"/>
            <a:chExt cx="67665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65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27DE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84029" y="685800"/>
            <a:ext cx="124692" cy="1246908"/>
            <a:chOff x="0" y="0"/>
            <a:chExt cx="166256" cy="16625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243" cy="1662557"/>
            </a:xfrm>
            <a:custGeom>
              <a:avLst/>
              <a:gdLst/>
              <a:ahLst/>
              <a:cxnLst/>
              <a:rect r="r" b="b" t="t" l="l"/>
              <a:pathLst>
                <a:path h="1662557" w="166243">
                  <a:moveTo>
                    <a:pt x="0" y="0"/>
                  </a:moveTo>
                  <a:lnTo>
                    <a:pt x="166243" y="0"/>
                  </a:lnTo>
                  <a:lnTo>
                    <a:pt x="166243" y="1662557"/>
                  </a:lnTo>
                  <a:lnTo>
                    <a:pt x="0" y="166255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17820" y="617220"/>
            <a:ext cx="12344400" cy="1371600"/>
            <a:chOff x="0" y="0"/>
            <a:chExt cx="164592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243" r="0" b="-125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17820" y="602933"/>
            <a:ext cx="12344400" cy="1385888"/>
            <a:chOff x="0" y="0"/>
            <a:chExt cx="16459200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557" r="0" b="-123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66845" y="9356646"/>
            <a:ext cx="3139011" cy="776164"/>
            <a:chOff x="0" y="0"/>
            <a:chExt cx="4185348" cy="1034885"/>
          </a:xfrm>
        </p:grpSpPr>
        <p:sp>
          <p:nvSpPr>
            <p:cNvPr name="Freeform 12" id="12" descr="/home/claude/duocuc_logo.png"/>
            <p:cNvSpPr/>
            <p:nvPr/>
          </p:nvSpPr>
          <p:spPr>
            <a:xfrm flipH="false" flipV="false" rot="0">
              <a:off x="0" y="0"/>
              <a:ext cx="4185285" cy="1034923"/>
            </a:xfrm>
            <a:custGeom>
              <a:avLst/>
              <a:gdLst/>
              <a:ahLst/>
              <a:cxnLst/>
              <a:rect r="r" b="b" t="t" l="l"/>
              <a:pathLst>
                <a:path h="1034923" w="4185285">
                  <a:moveTo>
                    <a:pt x="0" y="0"/>
                  </a:moveTo>
                  <a:lnTo>
                    <a:pt x="4185285" y="0"/>
                  </a:lnTo>
                  <a:lnTo>
                    <a:pt x="4185285" y="1034923"/>
                  </a:lnTo>
                  <a:lnTo>
                    <a:pt x="0" y="1034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7320" y="9471429"/>
            <a:ext cx="661380" cy="6613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7883" y="9611937"/>
            <a:ext cx="32025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5947" y="3869335"/>
            <a:ext cx="5282524" cy="184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174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Reducción de Brecha Digital:</a:t>
            </a:r>
          </a:p>
          <a:p>
            <a:pPr algn="ctr">
              <a:lnSpc>
                <a:spcPts val="2445"/>
              </a:lnSpc>
            </a:pPr>
          </a:p>
          <a:p>
            <a:pPr algn="just">
              <a:lnSpc>
                <a:spcPts val="2445"/>
              </a:lnSpc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 el transporte rural periférico al mapa digit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de viaje, visibilizando recorridos tradicionalment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ignorados.</a:t>
            </a:r>
          </a:p>
          <a:p>
            <a:pPr algn="just">
              <a:lnSpc>
                <a:spcPts val="244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828071" y="6272896"/>
            <a:ext cx="5282524" cy="184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174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Validación Automatizada en Ruta:</a:t>
            </a:r>
          </a:p>
          <a:p>
            <a:pPr algn="ctr">
              <a:lnSpc>
                <a:spcPts val="2445"/>
              </a:lnSpc>
            </a:pPr>
          </a:p>
          <a:p>
            <a:pPr algn="just">
              <a:lnSpc>
                <a:spcPts val="2445"/>
              </a:lnSpc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geofe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ncing y la reputación comunitaria demuestran ser la solución definitiva para mitig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 alertas falsas sin necesidad d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moderadores.</a:t>
            </a:r>
          </a:p>
          <a:p>
            <a:pPr algn="l">
              <a:lnSpc>
                <a:spcPts val="244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488415" y="3869335"/>
            <a:ext cx="5282524" cy="184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174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Impacto Económico Real:</a:t>
            </a:r>
          </a:p>
          <a:p>
            <a:pPr algn="ctr">
              <a:lnSpc>
                <a:spcPts val="2445"/>
              </a:lnSpc>
            </a:pPr>
          </a:p>
          <a:p>
            <a:pPr algn="just">
              <a:lnSpc>
                <a:spcPts val="2445"/>
              </a:lnSpc>
            </a:pP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tege el presupuesto de estudiantes y trabajadores al eliminar la incerti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dumbre y evitar sobregastos forzados en transport</a:t>
            </a:r>
            <a:r>
              <a:rPr lang="en-US" sz="174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privado.</a:t>
            </a:r>
          </a:p>
          <a:p>
            <a:pPr algn="just">
              <a:lnSpc>
                <a:spcPts val="244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828071" y="3117722"/>
            <a:ext cx="5282524" cy="31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5"/>
              </a:lnSpc>
            </a:pPr>
            <a:r>
              <a:rPr lang="en-US" sz="174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 demuestran 3 cosas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DAHT1Kc4mA4</dc:identifier>
  <dcterms:modified xsi:type="dcterms:W3CDTF">2011-08-01T06:04:30Z</dcterms:modified>
  <cp:revision>1</cp:revision>
  <dc:title>Capstone 1</dc:title>
</cp:coreProperties>
</file>